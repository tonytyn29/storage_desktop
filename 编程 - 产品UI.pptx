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77528" autoAdjust="0"/>
  </p:normalViewPr>
  <p:slideViewPr>
    <p:cSldViewPr snapToGrid="0">
      <p:cViewPr varScale="1">
        <p:scale>
          <a:sx n="62" d="100"/>
          <a:sy n="62" d="100"/>
        </p:scale>
        <p:origin x="78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E441B-B7B3-4D11-B7EF-A804839D0BFD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840A8-10F1-45DE-9990-29A08EF586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171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altLang="zh-CN" sz="1000" dirty="0"/>
                  <a:t>1 - </a:t>
                </a:r>
                <a:r>
                  <a:rPr lang="zh-CN" altLang="en-US" sz="1000" dirty="0"/>
                  <a:t>普通人</a:t>
                </a:r>
                <a:endParaRPr lang="en-US" altLang="zh-CN" sz="1000" dirty="0"/>
              </a:p>
              <a:p>
                <a:pPr>
                  <a:buNone/>
                </a:pPr>
                <a:endParaRPr lang="en-US" altLang="zh-CN" sz="1000" dirty="0"/>
              </a:p>
              <a:p>
                <a:pPr>
                  <a:buNone/>
                </a:pPr>
                <a:r>
                  <a:rPr lang="zh-CN" altLang="en-US" sz="1000" dirty="0"/>
                  <a:t>先把话说在前面：</a:t>
                </a:r>
                <a:br>
                  <a:rPr lang="zh-CN" altLang="en-US" sz="1000" dirty="0"/>
                </a:br>
                <a:r>
                  <a:rPr lang="zh-CN" altLang="en-US" sz="1000" b="1" dirty="0"/>
                  <a:t>不存在任何“保证稳定年化 </a:t>
                </a:r>
                <a:r>
                  <a:rPr lang="en-US" altLang="zh-CN" sz="1000" b="1" dirty="0"/>
                  <a:t>10%”</a:t>
                </a:r>
                <a:r>
                  <a:rPr lang="zh-CN" altLang="en-US" sz="1000" b="1" dirty="0"/>
                  <a:t>的算法。</a:t>
                </a:r>
                <a:br>
                  <a:rPr lang="zh-CN" altLang="en-US" sz="1000" dirty="0"/>
                </a:br>
                <a:r>
                  <a:rPr lang="zh-CN" altLang="en-US" sz="1000" dirty="0"/>
                  <a:t>我能做的是：给你一个</a:t>
                </a:r>
                <a:r>
                  <a:rPr lang="zh-CN" altLang="en-US" sz="1000" b="1" dirty="0"/>
                  <a:t>逻辑简单、可量化、历史上有不错表现</a:t>
                </a:r>
                <a:r>
                  <a:rPr lang="zh-CN" altLang="en-US" sz="1000" dirty="0"/>
                  <a:t>、目标年化在 </a:t>
                </a:r>
                <a:r>
                  <a:rPr lang="en-US" altLang="zh-CN" sz="1000" dirty="0"/>
                  <a:t>8–12% </a:t>
                </a:r>
                <a:r>
                  <a:rPr lang="zh-CN" altLang="en-US" sz="1000" dirty="0"/>
                  <a:t>区间的思路，你自己用回测和小资金去验证，而不是直接 </a:t>
                </a:r>
                <a:r>
                  <a:rPr lang="en-US" altLang="zh-CN" sz="1000" dirty="0"/>
                  <a:t>All in</a:t>
                </a:r>
                <a:r>
                  <a:rPr lang="zh-CN" altLang="en-US" sz="1000" dirty="0"/>
                  <a:t>。</a:t>
                </a:r>
              </a:p>
              <a:p>
                <a:pPr>
                  <a:buNone/>
                </a:pPr>
                <a:r>
                  <a:rPr lang="zh-CN" altLang="en-US" sz="1000" dirty="0"/>
                  <a:t>下面我给你介绍一套：</a:t>
                </a:r>
              </a:p>
              <a:p>
                <a:pPr>
                  <a:buNone/>
                </a:pPr>
                <a:r>
                  <a:rPr lang="zh-CN" altLang="en-US" sz="1000" b="1" dirty="0"/>
                  <a:t>“大盘指数 </a:t>
                </a:r>
                <a:r>
                  <a:rPr lang="en-US" altLang="zh-CN" sz="1000" b="1" dirty="0"/>
                  <a:t>+ </a:t>
                </a:r>
                <a:r>
                  <a:rPr lang="zh-CN" altLang="en-US" sz="1000" b="1" dirty="0"/>
                  <a:t>均线趋势过滤” 的机械策略</a:t>
                </a:r>
                <a:br>
                  <a:rPr lang="zh-CN" altLang="en-US" sz="1000" dirty="0"/>
                </a:br>
                <a:r>
                  <a:rPr lang="en-US" altLang="zh-CN" sz="1000" dirty="0"/>
                  <a:t>——</a:t>
                </a:r>
                <a:r>
                  <a:rPr lang="zh-CN" altLang="en-US" sz="1000" dirty="0"/>
                  <a:t>只用一个品种、一条均线、一套非常好理解的规则。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1. </a:t>
                </a:r>
                <a:r>
                  <a:rPr lang="zh-CN" altLang="en-US" sz="1000" b="1" dirty="0"/>
                  <a:t>思路用一句话说清楚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只做一个宽基指数</a:t>
                </a:r>
                <a:r>
                  <a:rPr lang="zh-CN" altLang="en-US" sz="1000" dirty="0"/>
                  <a:t>：比如你所在市场的“全市场</a:t>
                </a:r>
                <a:r>
                  <a:rPr lang="en-US" altLang="zh-CN" sz="1000" dirty="0"/>
                  <a:t>/</a:t>
                </a:r>
                <a:r>
                  <a:rPr lang="zh-CN" altLang="en-US" sz="1000" dirty="0"/>
                  <a:t>大盘指数基金或 </a:t>
                </a:r>
                <a:r>
                  <a:rPr lang="en-US" altLang="zh-CN" sz="1000" dirty="0"/>
                  <a:t>ETF”</a:t>
                </a:r>
                <a:r>
                  <a:rPr lang="zh-CN" altLang="en-US" sz="1000" dirty="0"/>
                  <a:t>，代表整个股市。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大盘走长期上升趋势时才入场</a:t>
                </a:r>
                <a:r>
                  <a:rPr lang="zh-CN" altLang="en-US" sz="1000" dirty="0"/>
                  <a:t>，大盘走长期下降趋势时就躲在货币基金或短债里。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趋势用一条</a:t>
                </a:r>
                <a:r>
                  <a:rPr lang="zh-CN" altLang="en-US" sz="1000" b="1" dirty="0"/>
                  <a:t>长期均线</a:t>
                </a:r>
                <a:r>
                  <a:rPr lang="zh-CN" altLang="en-US" sz="1000" dirty="0"/>
                  <a:t>来判断，比如 </a:t>
                </a:r>
                <a:r>
                  <a:rPr lang="en-US" altLang="zh-CN" sz="1000" b="1" dirty="0"/>
                  <a:t>200 </a:t>
                </a:r>
                <a:r>
                  <a:rPr lang="zh-CN" altLang="en-US" sz="1000" b="1" dirty="0"/>
                  <a:t>日简单移动平均线（</a:t>
                </a:r>
                <a:r>
                  <a:rPr lang="en-US" altLang="zh-CN" sz="1000" b="1" dirty="0"/>
                  <a:t>SMA200</a:t>
                </a:r>
                <a:r>
                  <a:rPr lang="zh-CN" altLang="en-US" sz="1000" b="1" dirty="0"/>
                  <a:t>）</a:t>
                </a:r>
                <a:r>
                  <a:rPr lang="zh-CN" altLang="en-US" sz="1000" dirty="0"/>
                  <a:t>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全程</a:t>
                </a:r>
                <a:r>
                  <a:rPr lang="zh-CN" altLang="en-US" sz="1000" b="1" dirty="0"/>
                  <a:t>不加杠杆，不做空</a:t>
                </a:r>
                <a:r>
                  <a:rPr lang="zh-CN" altLang="en-US" sz="1000" dirty="0"/>
                  <a:t>，只是在“股市风险”与“现金</a:t>
                </a:r>
                <a:r>
                  <a:rPr lang="en-US" altLang="zh-CN" sz="1000" dirty="0"/>
                  <a:t>/</a:t>
                </a:r>
                <a:r>
                  <a:rPr lang="zh-CN" altLang="en-US" sz="1000" dirty="0"/>
                  <a:t>债券安全”之间切换。</a:t>
                </a:r>
              </a:p>
              <a:p>
                <a:pPr>
                  <a:buNone/>
                </a:pPr>
                <a:r>
                  <a:rPr lang="zh-CN" altLang="en-US" sz="1000" dirty="0"/>
                  <a:t>目标：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长期收益 ≈ 股市长期收益 </a:t>
                </a:r>
                <a:r>
                  <a:rPr lang="en-US" altLang="zh-CN" sz="1000" b="1" dirty="0"/>
                  <a:t>×</a:t>
                </a:r>
                <a:r>
                  <a:rPr lang="zh-CN" altLang="en-US" sz="1000" b="1" dirty="0"/>
                  <a:t>（在场时间比例）</a:t>
                </a:r>
                <a:endParaRPr lang="zh-CN" altLang="en-US" sz="1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且</a:t>
                </a:r>
                <a:r>
                  <a:rPr lang="zh-CN" altLang="en-US" sz="1000" b="1" dirty="0"/>
                  <a:t>回撤比死拿股票小很多</a:t>
                </a:r>
                <a:r>
                  <a:rPr lang="zh-CN" altLang="en-US" sz="1000" dirty="0"/>
                  <a:t>，心理压力更可控，更适合普通人长期坚持。</a:t>
                </a:r>
              </a:p>
              <a:p>
                <a:pPr>
                  <a:buNone/>
                </a:pPr>
                <a:r>
                  <a:rPr lang="zh-CN" altLang="en-US" sz="1000" dirty="0"/>
                  <a:t>这类“趋势跟随 </a:t>
                </a:r>
                <a:r>
                  <a:rPr lang="en-US" altLang="zh-CN" sz="1000" dirty="0"/>
                  <a:t>+ </a:t>
                </a:r>
                <a:r>
                  <a:rPr lang="zh-CN" altLang="en-US" sz="1000" dirty="0"/>
                  <a:t>宏观风险过滤”的方法，在学术和实盘里都被大量研究过：在长期样本上，往往能把“很差的熊市”过滤掉一部分，让曲线更平滑，虽然也会错过一些急涨行情。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2. </a:t>
                </a:r>
                <a:r>
                  <a:rPr lang="zh-CN" altLang="en-US" sz="1000" b="1" dirty="0"/>
                  <a:t>具体规则（可以直接写进代码 </a:t>
                </a:r>
                <a:r>
                  <a:rPr lang="en-US" altLang="zh-CN" sz="1000" b="1" dirty="0"/>
                  <a:t>/ Excel</a:t>
                </a:r>
                <a:r>
                  <a:rPr lang="zh-CN" altLang="en-US" sz="1000" b="1" dirty="0"/>
                  <a:t>）</a:t>
                </a:r>
              </a:p>
              <a:p>
                <a:pPr>
                  <a:buNone/>
                </a:pPr>
                <a:r>
                  <a:rPr lang="zh-CN" altLang="en-US" sz="1000" dirty="0"/>
                  <a:t>假设你只做一个指数基金：叫它 </a:t>
                </a:r>
                <a:r>
                  <a:rPr lang="en-US" altLang="zh-CN" sz="1000" dirty="0" err="1">
                    <a:latin typeface="Courier New" panose="02070309020205020404" pitchFamily="49" charset="0"/>
                  </a:rPr>
                  <a:t>IndexETF</a:t>
                </a:r>
                <a:r>
                  <a:rPr lang="zh-CN" altLang="en-US" sz="1000" dirty="0"/>
                  <a:t>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2.1 </a:t>
                </a:r>
                <a:r>
                  <a:rPr lang="zh-CN" altLang="en-US" sz="1000" b="1" dirty="0"/>
                  <a:t>交易频率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每天收盘后</a:t>
                </a:r>
                <a:r>
                  <a:rPr lang="zh-CN" altLang="en-US" sz="1000" dirty="0"/>
                  <a:t>检查一次；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或者简单点：</a:t>
                </a:r>
                <a:r>
                  <a:rPr lang="zh-CN" altLang="en-US" sz="1000" b="1" dirty="0"/>
                  <a:t>每周最后一个交易日收盘后</a:t>
                </a:r>
                <a:r>
                  <a:rPr lang="zh-CN" altLang="en-US" sz="1000" dirty="0"/>
                  <a:t>检查一次（减少交易次数和手续费）。</a:t>
                </a:r>
              </a:p>
              <a:p>
                <a:pPr>
                  <a:buNone/>
                </a:pPr>
                <a:r>
                  <a:rPr lang="zh-CN" altLang="en-US" sz="1000" dirty="0"/>
                  <a:t>下面以“每天检查”说明，逻辑一样。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2.2 </a:t>
                </a:r>
                <a:r>
                  <a:rPr lang="zh-CN" altLang="en-US" sz="1000" b="1" dirty="0"/>
                  <a:t>信号计算</a:t>
                </a:r>
              </a:p>
              <a:p>
                <a:pPr>
                  <a:buNone/>
                </a:pPr>
                <a:r>
                  <a:rPr lang="zh-CN" altLang="en-US" sz="1000" dirty="0"/>
                  <a:t>用过去 </a:t>
                </a:r>
                <a:r>
                  <a:rPr lang="en-US" altLang="zh-CN" sz="1000" dirty="0"/>
                  <a:t>200 </a:t>
                </a:r>
                <a:r>
                  <a:rPr lang="zh-CN" altLang="en-US" sz="1000" dirty="0"/>
                  <a:t>个交易日的收盘价，计算一个简单均线：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000" b="0"/>
                        <m:t>SMA</m:t>
                      </m:r>
                      <m:r>
                        <m:rPr>
                          <m:nor/>
                        </m:rPr>
                        <a:rPr lang="en-US" altLang="zh-CN" sz="1000" b="0"/>
                        <m:t>200</m:t>
                      </m:r>
                      <m:d>
                        <m:dPr>
                          <m:ctrlPr>
                            <a:rPr lang="zh-CN" altLang="en-US" sz="1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0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0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000" b="0" i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zh-CN" altLang="en-US" sz="10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0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 b="0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1000" b="0" i="0">
                              <a:latin typeface="Cambria Math" panose="02040503050406030204" pitchFamily="18" charset="0"/>
                            </a:rPr>
                            <m:t>199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altLang="zh-CN" sz="1000" b="0" i="1">
                              <a:latin typeface="Cambria Math" panose="02040503050406030204" pitchFamily="18" charset="0"/>
                            </a:rPr>
                            <m:t>Close</m:t>
                          </m:r>
                        </m:e>
                      </m:nary>
                      <m:d>
                        <m:dPr>
                          <m:ctrlPr>
                            <a:rPr lang="zh-CN" altLang="en-US" sz="1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000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10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0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zh-CN" altLang="en-US" sz="1000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latin typeface="Courier New" panose="02070309020205020404" pitchFamily="49" charset="0"/>
                  </a:rPr>
                  <a:t>Close(t)</a:t>
                </a:r>
                <a:r>
                  <a:rPr lang="zh-CN" altLang="en-US" sz="1000" dirty="0"/>
                  <a:t>：第 </a:t>
                </a:r>
                <a:r>
                  <a:rPr lang="en-US" altLang="zh-CN" sz="1000" dirty="0"/>
                  <a:t>t </a:t>
                </a:r>
                <a:r>
                  <a:rPr lang="zh-CN" altLang="en-US" sz="1000" dirty="0"/>
                  <a:t>天收盘价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latin typeface="Courier New" panose="02070309020205020404" pitchFamily="49" charset="0"/>
                  </a:rPr>
                  <a:t>SMA200(t)</a:t>
                </a:r>
                <a:r>
                  <a:rPr lang="zh-CN" altLang="en-US" sz="1000" dirty="0"/>
                  <a:t>：最近 </a:t>
                </a:r>
                <a:r>
                  <a:rPr lang="en-US" altLang="zh-CN" sz="1000" dirty="0"/>
                  <a:t>200 </a:t>
                </a:r>
                <a:r>
                  <a:rPr lang="zh-CN" altLang="en-US" sz="1000" dirty="0"/>
                  <a:t>个交易日的平均收盘价</a:t>
                </a:r>
              </a:p>
              <a:p>
                <a:pPr>
                  <a:buNone/>
                </a:pPr>
                <a:r>
                  <a:rPr lang="en-US" altLang="zh-CN" sz="1000" b="1" dirty="0"/>
                  <a:t>2.3 </a:t>
                </a:r>
                <a:r>
                  <a:rPr lang="zh-CN" altLang="en-US" sz="1000" b="1" dirty="0"/>
                  <a:t>仓位规则（超好记）</a:t>
                </a:r>
              </a:p>
              <a:p>
                <a:pPr>
                  <a:buNone/>
                </a:pPr>
                <a:r>
                  <a:rPr lang="zh-CN" altLang="en-US" sz="1000" dirty="0"/>
                  <a:t>每天收盘后做判断：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买入 </a:t>
                </a:r>
                <a:r>
                  <a:rPr lang="en-US" altLang="zh-CN" sz="1000" b="1" dirty="0"/>
                  <a:t>/ </a:t>
                </a:r>
                <a:r>
                  <a:rPr lang="zh-CN" altLang="en-US" sz="1000" b="1" dirty="0"/>
                  <a:t>持有信号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条件：</a:t>
                </a:r>
                <a:br>
                  <a:rPr lang="zh-CN" altLang="en-US" sz="1000" dirty="0"/>
                </a:br>
                <a:r>
                  <a:rPr lang="zh-CN" altLang="en-US" sz="1000" dirty="0">
                    <a:latin typeface="Courier New" panose="02070309020205020404" pitchFamily="49" charset="0"/>
                  </a:rPr>
                  <a:t>今日收盘价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&gt; </a:t>
                </a:r>
                <a:r>
                  <a:rPr lang="zh-CN" altLang="en-US" sz="1000" dirty="0">
                    <a:latin typeface="Courier New" panose="02070309020205020404" pitchFamily="49" charset="0"/>
                  </a:rPr>
                  <a:t>今日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SMA200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动作：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zh-CN" altLang="en-US" sz="1000" dirty="0"/>
                  <a:t>把策略资金中，</a:t>
                </a:r>
                <a:r>
                  <a:rPr lang="zh-CN" altLang="en-US" sz="1000" b="1" dirty="0"/>
                  <a:t>目标仓位调到 </a:t>
                </a:r>
                <a:r>
                  <a:rPr lang="en-US" altLang="zh-CN" sz="1000" b="1" dirty="0"/>
                  <a:t>100% </a:t>
                </a:r>
                <a:r>
                  <a:rPr lang="en-US" altLang="zh-CN" sz="1000" b="1" dirty="0" err="1"/>
                  <a:t>IndexETF</a:t>
                </a:r>
                <a:endParaRPr lang="zh-CN" altLang="en-US" sz="1000" dirty="0"/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zh-CN" altLang="en-US" sz="1000" dirty="0"/>
                  <a:t>即：如果现在只有 </a:t>
                </a:r>
                <a:r>
                  <a:rPr lang="en-US" altLang="zh-CN" sz="1000" dirty="0"/>
                  <a:t>40% </a:t>
                </a:r>
                <a:r>
                  <a:rPr lang="zh-CN" altLang="en-US" sz="1000" dirty="0"/>
                  <a:t>在 </a:t>
                </a:r>
                <a:r>
                  <a:rPr lang="en-US" altLang="zh-CN" sz="1000" dirty="0"/>
                  <a:t>ETF</a:t>
                </a:r>
                <a:r>
                  <a:rPr lang="zh-CN" altLang="en-US" sz="1000" dirty="0"/>
                  <a:t>、</a:t>
                </a:r>
                <a:r>
                  <a:rPr lang="en-US" altLang="zh-CN" sz="1000" dirty="0"/>
                  <a:t>60% </a:t>
                </a:r>
                <a:r>
                  <a:rPr lang="zh-CN" altLang="en-US" sz="1000" dirty="0"/>
                  <a:t>在货基，就买入到 </a:t>
                </a:r>
                <a:r>
                  <a:rPr lang="en-US" altLang="zh-CN" sz="1000" dirty="0"/>
                  <a:t>100%</a:t>
                </a:r>
                <a:r>
                  <a:rPr lang="zh-CN" altLang="en-US" sz="1000" dirty="0"/>
                  <a:t>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卖出 </a:t>
                </a:r>
                <a:r>
                  <a:rPr lang="en-US" altLang="zh-CN" sz="1000" b="1" dirty="0"/>
                  <a:t>/ </a:t>
                </a:r>
                <a:r>
                  <a:rPr lang="zh-CN" altLang="en-US" sz="1000" b="1" dirty="0"/>
                  <a:t>空仓信号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条件：</a:t>
                </a:r>
                <a:br>
                  <a:rPr lang="zh-CN" altLang="en-US" sz="1000" dirty="0"/>
                </a:br>
                <a:r>
                  <a:rPr lang="zh-CN" altLang="en-US" sz="1000" dirty="0">
                    <a:latin typeface="Courier New" panose="02070309020205020404" pitchFamily="49" charset="0"/>
                  </a:rPr>
                  <a:t>今日收盘价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&lt; </a:t>
                </a:r>
                <a:r>
                  <a:rPr lang="zh-CN" altLang="en-US" sz="1000" dirty="0">
                    <a:latin typeface="Courier New" panose="02070309020205020404" pitchFamily="49" charset="0"/>
                  </a:rPr>
                  <a:t>今日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SMA200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动作：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zh-CN" altLang="en-US" sz="1000" dirty="0"/>
                  <a:t>把当前持有的 </a:t>
                </a:r>
                <a:r>
                  <a:rPr lang="en-US" altLang="zh-CN" sz="1000" dirty="0" err="1">
                    <a:latin typeface="Courier New" panose="02070309020205020404" pitchFamily="49" charset="0"/>
                  </a:rPr>
                  <a:t>IndexETF</a:t>
                </a:r>
                <a:r>
                  <a:rPr lang="zh-CN" altLang="en-US" sz="1000" dirty="0"/>
                  <a:t> 全部卖出，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zh-CN" altLang="en-US" sz="1000" dirty="0"/>
                  <a:t>资金停在 </a:t>
                </a:r>
                <a:r>
                  <a:rPr lang="zh-CN" altLang="en-US" sz="1000" b="1" dirty="0"/>
                  <a:t>货币基金 </a:t>
                </a:r>
                <a:r>
                  <a:rPr lang="en-US" altLang="zh-CN" sz="1000" b="1" dirty="0"/>
                  <a:t>/ </a:t>
                </a:r>
                <a:r>
                  <a:rPr lang="zh-CN" altLang="en-US" sz="1000" b="1" dirty="0"/>
                  <a:t>短债基金 </a:t>
                </a:r>
                <a:r>
                  <a:rPr lang="en-US" altLang="zh-CN" sz="1000" b="1" dirty="0"/>
                  <a:t>/ </a:t>
                </a:r>
                <a:r>
                  <a:rPr lang="zh-CN" altLang="en-US" sz="1000" b="1" dirty="0"/>
                  <a:t>活期</a:t>
                </a:r>
                <a:r>
                  <a:rPr lang="zh-CN" altLang="en-US" sz="1000" dirty="0"/>
                  <a:t> 等低风险资产里。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无操作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条件：</a:t>
                </a:r>
                <a:br>
                  <a:rPr lang="zh-CN" altLang="en-US" sz="1000" dirty="0"/>
                </a:br>
                <a:r>
                  <a:rPr lang="zh-CN" altLang="en-US" sz="1000" dirty="0">
                    <a:latin typeface="Courier New" panose="02070309020205020404" pitchFamily="49" charset="0"/>
                  </a:rPr>
                  <a:t>收盘价</a:t>
                </a:r>
                <a:r>
                  <a:rPr lang="zh-CN" altLang="en-US" sz="1000" dirty="0"/>
                  <a:t> 与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SMA200</a:t>
                </a:r>
                <a:r>
                  <a:rPr lang="zh-CN" altLang="en-US" sz="1000" dirty="0"/>
                  <a:t> 在同一侧，而且没有“穿越”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动作：</a:t>
                </a:r>
                <a:br>
                  <a:rPr lang="zh-CN" altLang="en-US" sz="1000" dirty="0"/>
                </a:br>
                <a:r>
                  <a:rPr lang="zh-CN" altLang="en-US" sz="1000" dirty="0"/>
                  <a:t>不交易，保持昨日仓位。</a:t>
                </a:r>
              </a:p>
              <a:p>
                <a:pPr>
                  <a:buNone/>
                </a:pPr>
                <a:r>
                  <a:rPr lang="zh-CN" altLang="en-US" sz="1000" dirty="0"/>
                  <a:t>简单记：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站在 </a:t>
                </a:r>
                <a:r>
                  <a:rPr lang="en-US" altLang="zh-CN" sz="1000" b="1" dirty="0"/>
                  <a:t>200 </a:t>
                </a:r>
                <a:r>
                  <a:rPr lang="zh-CN" altLang="en-US" sz="1000" b="1" dirty="0"/>
                  <a:t>日线上：满仓大盘</a:t>
                </a:r>
                <a:endParaRPr lang="zh-CN" altLang="en-US" sz="1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跌破 </a:t>
                </a:r>
                <a:r>
                  <a:rPr lang="en-US" altLang="zh-CN" sz="1000" b="1" dirty="0"/>
                  <a:t>200 </a:t>
                </a:r>
                <a:r>
                  <a:rPr lang="zh-CN" altLang="en-US" sz="1000" b="1" dirty="0"/>
                  <a:t>日线：全部躲到现金或债券</a:t>
                </a:r>
                <a:endParaRPr lang="zh-CN" altLang="en-US" sz="1000" dirty="0"/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3. </a:t>
                </a:r>
                <a:r>
                  <a:rPr lang="zh-CN" altLang="en-US" sz="1000" b="1" dirty="0"/>
                  <a:t>风控细节（让它更“稳”一点）</a:t>
                </a:r>
              </a:p>
              <a:p>
                <a:pPr>
                  <a:buNone/>
                </a:pPr>
                <a:r>
                  <a:rPr lang="zh-CN" altLang="en-US" sz="1000" dirty="0"/>
                  <a:t>光靠这条线还不够，我们给它加几条非常容易实现的安全带。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3.1 </a:t>
                </a:r>
                <a:r>
                  <a:rPr lang="zh-CN" altLang="en-US" sz="1000" b="1" dirty="0"/>
                  <a:t>最大仓位限制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即便信号是满仓，也可以设置</a:t>
                </a:r>
                <a:br>
                  <a:rPr lang="zh-CN" altLang="en-US" sz="1000" dirty="0"/>
                </a:br>
                <a:r>
                  <a:rPr lang="zh-CN" altLang="en-US" sz="1000" dirty="0">
                    <a:latin typeface="Courier New" panose="02070309020205020404" pitchFamily="49" charset="0"/>
                  </a:rPr>
                  <a:t>最大股票仓位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= 80%</a:t>
                </a:r>
                <a:br>
                  <a:rPr lang="zh-CN" altLang="en-US" sz="1000" dirty="0"/>
                </a:br>
                <a:r>
                  <a:rPr lang="zh-CN" altLang="en-US" sz="1000" dirty="0"/>
                  <a:t>另外 </a:t>
                </a:r>
                <a:r>
                  <a:rPr lang="en-US" altLang="zh-CN" sz="1000" dirty="0"/>
                  <a:t>20% </a:t>
                </a:r>
                <a:r>
                  <a:rPr lang="zh-CN" altLang="en-US" sz="1000" dirty="0"/>
                  <a:t>永远放在货币基金里当缓冲。</a:t>
                </a:r>
              </a:p>
              <a:p>
                <a:pPr>
                  <a:buNone/>
                </a:pPr>
                <a:r>
                  <a:rPr lang="zh-CN" altLang="en-US" sz="1000" dirty="0"/>
                  <a:t>优点：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遇到闪崩、黑天鹅，账户不会一下子全线暴跌；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心理上也更容易扛得住。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3.2 </a:t>
                </a:r>
                <a:r>
                  <a:rPr lang="zh-CN" altLang="en-US" sz="1000" b="1" dirty="0"/>
                  <a:t>交易冷静期（防止“假突破”频繁打脸）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规定：信号刚刚从“空仓 → 满仓”或“满仓 → 空仓”切换后，</a:t>
                </a:r>
                <a:r>
                  <a:rPr lang="zh-CN" altLang="en-US" sz="1000" b="1" dirty="0"/>
                  <a:t>至少等待 </a:t>
                </a:r>
                <a:r>
                  <a:rPr lang="en-US" altLang="zh-CN" sz="1000" b="1" dirty="0"/>
                  <a:t>5 </a:t>
                </a:r>
                <a:r>
                  <a:rPr lang="zh-CN" altLang="en-US" sz="1000" b="1" dirty="0"/>
                  <a:t>个交易日</a:t>
                </a:r>
                <a:r>
                  <a:rPr lang="zh-CN" altLang="en-US" sz="1000" dirty="0"/>
                  <a:t>才允许下一次反向切换。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这样可以减少连续几天反复上下穿均线导致的“来回打脸 </a:t>
                </a:r>
                <a:r>
                  <a:rPr lang="en-US" altLang="zh-CN" sz="1000" dirty="0"/>
                  <a:t>+ </a:t>
                </a:r>
                <a:r>
                  <a:rPr lang="zh-CN" altLang="en-US" sz="1000" dirty="0"/>
                  <a:t>手续费”。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3.3 </a:t>
                </a:r>
                <a:r>
                  <a:rPr lang="zh-CN" altLang="en-US" sz="1000" b="1" dirty="0"/>
                  <a:t>资金分批进出（减轻心里压力）</a:t>
                </a:r>
              </a:p>
              <a:p>
                <a:pPr>
                  <a:buNone/>
                </a:pPr>
                <a:r>
                  <a:rPr lang="zh-CN" altLang="en-US" sz="1000" dirty="0"/>
                  <a:t>入场时不要一下子梭哈，可以拆成三档：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第一天信号出现：先买入目标仓位的 </a:t>
                </a:r>
                <a:r>
                  <a:rPr lang="en-US" altLang="zh-CN" sz="1000" dirty="0"/>
                  <a:t>1/3</a:t>
                </a:r>
                <a:r>
                  <a:rPr lang="zh-CN" altLang="en-US" sz="1000" dirty="0"/>
                  <a:t>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如果 </a:t>
                </a:r>
                <a:r>
                  <a:rPr lang="en-US" altLang="zh-CN" sz="1000" dirty="0"/>
                  <a:t>3 </a:t>
                </a:r>
                <a:r>
                  <a:rPr lang="zh-CN" altLang="en-US" sz="1000" dirty="0"/>
                  <a:t>天内信号仍然有效：再买 </a:t>
                </a:r>
                <a:r>
                  <a:rPr lang="en-US" altLang="zh-CN" sz="1000" dirty="0"/>
                  <a:t>1/3</a:t>
                </a:r>
                <a:r>
                  <a:rPr lang="zh-CN" altLang="en-US" sz="1000" dirty="0"/>
                  <a:t>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再过 </a:t>
                </a:r>
                <a:r>
                  <a:rPr lang="en-US" altLang="zh-CN" sz="1000" dirty="0"/>
                  <a:t>3 </a:t>
                </a:r>
                <a:r>
                  <a:rPr lang="zh-CN" altLang="en-US" sz="1000" dirty="0"/>
                  <a:t>天仍有效：补齐最后 </a:t>
                </a:r>
                <a:r>
                  <a:rPr lang="en-US" altLang="zh-CN" sz="1000" dirty="0"/>
                  <a:t>1/3</a:t>
                </a:r>
                <a:r>
                  <a:rPr lang="zh-CN" altLang="en-US" sz="1000" dirty="0"/>
                  <a:t>。</a:t>
                </a:r>
              </a:p>
              <a:p>
                <a:pPr>
                  <a:buNone/>
                </a:pPr>
                <a:r>
                  <a:rPr lang="zh-CN" altLang="en-US" sz="1000" dirty="0"/>
                  <a:t>出场时也分三步卖出。</a:t>
                </a:r>
                <a:br>
                  <a:rPr lang="zh-CN" altLang="en-US" sz="1000" dirty="0"/>
                </a:br>
                <a:r>
                  <a:rPr lang="zh-CN" altLang="en-US" sz="1000" dirty="0"/>
                  <a:t>逻辑没变，只是上车和下车更平滑一点，减少“刚买就跌</a:t>
                </a:r>
                <a:r>
                  <a:rPr lang="en-US" altLang="zh-CN" sz="1000" dirty="0"/>
                  <a:t>/</a:t>
                </a:r>
                <a:r>
                  <a:rPr lang="zh-CN" altLang="en-US" sz="1000" dirty="0"/>
                  <a:t>刚卖就涨”的心理折磨。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4. </a:t>
                </a:r>
                <a:r>
                  <a:rPr lang="zh-CN" altLang="en-US" sz="1000" b="1" dirty="0"/>
                  <a:t>为什么这种策略有机会做到“长期 ≈ </a:t>
                </a:r>
                <a:r>
                  <a:rPr lang="en-US" altLang="zh-CN" sz="1000" b="1" dirty="0"/>
                  <a:t>10% </a:t>
                </a:r>
                <a:r>
                  <a:rPr lang="zh-CN" altLang="en-US" sz="1000" b="1" dirty="0"/>
                  <a:t>年化”</a:t>
                </a:r>
              </a:p>
              <a:p>
                <a:pPr>
                  <a:buNone/>
                </a:pPr>
                <a:r>
                  <a:rPr lang="zh-CN" altLang="en-US" sz="1000" dirty="0"/>
                  <a:t>先说一句：</a:t>
                </a:r>
                <a:r>
                  <a:rPr lang="zh-CN" altLang="en-US" sz="1000" b="1" dirty="0"/>
                  <a:t>这只是一个目标区间，不是承诺。</a:t>
                </a: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4.1 </a:t>
                </a:r>
                <a:r>
                  <a:rPr lang="zh-CN" altLang="en-US" sz="1000" b="1" dirty="0"/>
                  <a:t>非常粗的直觉估算（不做回测版）</a:t>
                </a:r>
              </a:p>
              <a:p>
                <a:pPr>
                  <a:buNone/>
                </a:pPr>
                <a:r>
                  <a:rPr lang="zh-CN" altLang="en-US" sz="1000" dirty="0"/>
                  <a:t>假设你所在的股市长期有这样一个特征（很多国家股市大概类似）：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长期股市名义收益</a:t>
                </a:r>
                <a:r>
                  <a:rPr lang="zh-CN" altLang="en-US" sz="1000" dirty="0"/>
                  <a:t>大约在 </a:t>
                </a:r>
                <a:r>
                  <a:rPr lang="en-US" altLang="zh-CN" sz="1000" dirty="0"/>
                  <a:t>8–12%/</a:t>
                </a:r>
                <a:r>
                  <a:rPr lang="zh-CN" altLang="en-US" sz="1000" dirty="0"/>
                  <a:t>年（包含股息）；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货币基金 </a:t>
                </a:r>
                <a:r>
                  <a:rPr lang="en-US" altLang="zh-CN" sz="1000" dirty="0"/>
                  <a:t>/ </a:t>
                </a:r>
                <a:r>
                  <a:rPr lang="zh-CN" altLang="en-US" sz="1000" dirty="0"/>
                  <a:t>短债长期大概 </a:t>
                </a:r>
                <a:r>
                  <a:rPr lang="en-US" altLang="zh-CN" sz="1000" dirty="0"/>
                  <a:t>2–4%/</a:t>
                </a:r>
                <a:r>
                  <a:rPr lang="zh-CN" altLang="en-US" sz="1000" dirty="0"/>
                  <a:t>年左右；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牛市时，指数涨得多且持续；熊市时，指数可以在几年里负收益甚至腰斩。</a:t>
                </a:r>
              </a:p>
              <a:p>
                <a:pPr>
                  <a:buNone/>
                </a:pPr>
                <a:r>
                  <a:rPr lang="zh-CN" altLang="en-US" sz="1000" dirty="0"/>
                  <a:t>这个策略的行为：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在牛市中，价格大部分时间在 </a:t>
                </a:r>
                <a:r>
                  <a:rPr lang="en-US" altLang="zh-CN" sz="1000" dirty="0"/>
                  <a:t>200 </a:t>
                </a:r>
                <a:r>
                  <a:rPr lang="zh-CN" altLang="en-US" sz="1000" dirty="0"/>
                  <a:t>日线上方 ⇒ 你多数时间在场，享受股市收益。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在深度熊市</a:t>
                </a:r>
                <a:r>
                  <a:rPr lang="en-US" altLang="zh-CN" sz="1000" dirty="0"/>
                  <a:t>/</a:t>
                </a:r>
                <a:r>
                  <a:rPr lang="zh-CN" altLang="en-US" sz="1000" dirty="0"/>
                  <a:t>长熊里，价格长期跌破 </a:t>
                </a:r>
                <a:r>
                  <a:rPr lang="en-US" altLang="zh-CN" sz="1000" dirty="0"/>
                  <a:t>200 </a:t>
                </a:r>
                <a:r>
                  <a:rPr lang="zh-CN" altLang="en-US" sz="1000" dirty="0"/>
                  <a:t>日线 ⇒ 很多时间你在现金</a:t>
                </a:r>
                <a:r>
                  <a:rPr lang="en-US" altLang="zh-CN" sz="1000" dirty="0"/>
                  <a:t>/</a:t>
                </a:r>
                <a:r>
                  <a:rPr lang="zh-CN" altLang="en-US" sz="1000" dirty="0"/>
                  <a:t>债券，不跟着一起跌那么惨。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在震荡市，可能会被来回假突破“多次打脸”，收益会平平甚至略输指数，这是策略的“学费”。</a:t>
                </a:r>
              </a:p>
              <a:p>
                <a:pPr>
                  <a:buNone/>
                </a:pPr>
                <a:r>
                  <a:rPr lang="zh-CN" altLang="en-US" sz="1000" dirty="0"/>
                  <a:t>如果你：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选择的是一个</a:t>
                </a:r>
                <a:r>
                  <a:rPr lang="zh-CN" altLang="en-US" sz="1000" b="1" dirty="0"/>
                  <a:t>优质、长期向上的宽基指数</a:t>
                </a:r>
                <a:r>
                  <a:rPr lang="zh-CN" altLang="en-US" sz="1000" dirty="0"/>
                  <a:t>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按规则执行、</a:t>
                </a:r>
                <a:r>
                  <a:rPr lang="zh-CN" altLang="en-US" sz="1000" b="1" dirty="0"/>
                  <a:t>不加杠杆、不频繁换品种</a:t>
                </a:r>
                <a:r>
                  <a:rPr lang="zh-CN" altLang="en-US" sz="1000" dirty="0"/>
                  <a:t>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且市场整体在未来 </a:t>
                </a:r>
                <a:r>
                  <a:rPr lang="en-US" altLang="zh-CN" sz="1000" dirty="0"/>
                  <a:t>10+ </a:t>
                </a:r>
                <a:r>
                  <a:rPr lang="zh-CN" altLang="en-US" sz="1000" dirty="0"/>
                  <a:t>年仍然向上；</a:t>
                </a:r>
              </a:p>
              <a:p>
                <a:pPr>
                  <a:buNone/>
                </a:pPr>
                <a:r>
                  <a:rPr lang="zh-CN" altLang="en-US" sz="1000" dirty="0"/>
                  <a:t>那么：</a:t>
                </a:r>
                <a:br>
                  <a:rPr lang="zh-CN" altLang="en-US" sz="1000" dirty="0"/>
                </a:br>
                <a:r>
                  <a:rPr lang="zh-CN" altLang="en-US" sz="1000" b="1" dirty="0"/>
                  <a:t>长期下来，这样的“股指 </a:t>
                </a:r>
                <a:r>
                  <a:rPr lang="en-US" altLang="zh-CN" sz="1000" b="1" dirty="0"/>
                  <a:t>+ </a:t>
                </a:r>
                <a:r>
                  <a:rPr lang="zh-CN" altLang="en-US" sz="1000" b="1" dirty="0"/>
                  <a:t>趋势过滤”策略，拿到接近 </a:t>
                </a:r>
                <a:r>
                  <a:rPr lang="en-US" altLang="zh-CN" sz="1000" b="1" dirty="0"/>
                  <a:t>8–10% </a:t>
                </a:r>
                <a:r>
                  <a:rPr lang="zh-CN" altLang="en-US" sz="1000" b="1" dirty="0"/>
                  <a:t>的年化是“有希望”的，同时最大回撤通常会比死拿指数好看一些。</a:t>
                </a:r>
                <a:br>
                  <a:rPr lang="zh-CN" altLang="en-US" sz="1000" dirty="0"/>
                </a:br>
                <a:r>
                  <a:rPr lang="zh-CN" altLang="en-US" sz="1000" dirty="0"/>
                  <a:t>但这个结果要用严谨回测 </a:t>
                </a:r>
                <a:r>
                  <a:rPr lang="en-US" altLang="zh-CN" sz="1000" dirty="0"/>
                  <a:t>+ </a:t>
                </a:r>
                <a:r>
                  <a:rPr lang="zh-CN" altLang="en-US" sz="1000" dirty="0"/>
                  <a:t>真实小资金试跑来验证，而且未来可能会比历史差，这点必须接受。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5. </a:t>
                </a:r>
                <a:r>
                  <a:rPr lang="zh-CN" altLang="en-US" sz="1000" b="1" dirty="0"/>
                  <a:t>这个算法“量化”在哪里？</a:t>
                </a:r>
              </a:p>
              <a:p>
                <a:pPr>
                  <a:buNone/>
                </a:pPr>
                <a:r>
                  <a:rPr lang="zh-CN" altLang="en-US" sz="1000" dirty="0"/>
                  <a:t>它的量化要素：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决策完全由公式驱动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入场 </a:t>
                </a:r>
                <a:r>
                  <a:rPr lang="en-US" altLang="zh-CN" sz="1000" dirty="0"/>
                  <a:t>/ </a:t>
                </a:r>
                <a:r>
                  <a:rPr lang="zh-CN" altLang="en-US" sz="1000" dirty="0"/>
                  <a:t>出场只看：</a:t>
                </a:r>
                <a:r>
                  <a:rPr lang="zh-CN" altLang="en-US" sz="1000" dirty="0">
                    <a:latin typeface="Courier New" panose="02070309020205020404" pitchFamily="49" charset="0"/>
                  </a:rPr>
                  <a:t>收盘价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vs SMA200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没有“感觉好不好”“今天情绪如何”这种主观因素。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指标简单，便于回测和实现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任何语言（</a:t>
                </a:r>
                <a:r>
                  <a:rPr lang="en-US" altLang="zh-CN" sz="1000" dirty="0"/>
                  <a:t>Python</a:t>
                </a:r>
                <a:r>
                  <a:rPr lang="zh-CN" altLang="en-US" sz="1000" dirty="0"/>
                  <a:t>、</a:t>
                </a:r>
                <a:r>
                  <a:rPr lang="en-US" altLang="zh-CN" sz="1000" dirty="0"/>
                  <a:t>Pandas</a:t>
                </a:r>
                <a:r>
                  <a:rPr lang="zh-CN" altLang="en-US" sz="1000" dirty="0"/>
                  <a:t>）、任何量化平台，甚至 </a:t>
                </a:r>
                <a:r>
                  <a:rPr lang="en-US" altLang="zh-CN" sz="1000" dirty="0"/>
                  <a:t>Excel</a:t>
                </a:r>
                <a:r>
                  <a:rPr lang="zh-CN" altLang="en-US" sz="1000" dirty="0"/>
                  <a:t>，都能轻松写出来。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易于扩展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可以改成**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en-US" altLang="zh-CN" sz="1000" dirty="0"/>
                  <a:t>150 </a:t>
                </a:r>
                <a:r>
                  <a:rPr lang="zh-CN" altLang="en-US" sz="1000" dirty="0"/>
                  <a:t>日均线、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en-US" altLang="zh-CN" sz="1000" dirty="0"/>
                  <a:t>100 </a:t>
                </a:r>
                <a:r>
                  <a:rPr lang="zh-CN" altLang="en-US" sz="1000" dirty="0"/>
                  <a:t>日均线、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zh-CN" altLang="en-US" sz="1000" dirty="0"/>
                  <a:t>双均线（比如 </a:t>
                </a:r>
                <a:r>
                  <a:rPr lang="en-US" altLang="zh-CN" sz="1000" dirty="0"/>
                  <a:t>50/200 </a:t>
                </a:r>
                <a:r>
                  <a:rPr lang="zh-CN" altLang="en-US" sz="1000" dirty="0"/>
                  <a:t>日金叉死叉）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可以增加多个指数，做一个</a:t>
                </a:r>
                <a:r>
                  <a:rPr lang="zh-CN" altLang="en-US" sz="1000" b="1" dirty="0"/>
                  <a:t>多资产轮动</a:t>
                </a:r>
                <a:r>
                  <a:rPr lang="zh-CN" altLang="en-US" sz="1000" dirty="0"/>
                  <a:t>版本。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6. </a:t>
                </a:r>
                <a:r>
                  <a:rPr lang="zh-CN" altLang="en-US" sz="1000" b="1" dirty="0"/>
                  <a:t>你可以如何实际动手做</a:t>
                </a:r>
              </a:p>
              <a:p>
                <a:pPr>
                  <a:buNone/>
                </a:pPr>
                <a:r>
                  <a:rPr lang="zh-CN" altLang="en-US" sz="1000" dirty="0"/>
                  <a:t>这里我说步骤，而不是代码（你如果愿意，下一步我可以帮你写 </a:t>
                </a:r>
                <a:r>
                  <a:rPr lang="en-US" altLang="zh-CN" sz="1000" dirty="0"/>
                  <a:t>Python / Excel </a:t>
                </a:r>
                <a:r>
                  <a:rPr lang="zh-CN" altLang="en-US" sz="1000" dirty="0"/>
                  <a:t>模板）。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6.1 </a:t>
                </a:r>
                <a:r>
                  <a:rPr lang="zh-CN" altLang="en-US" sz="1000" b="1" dirty="0"/>
                  <a:t>准备数据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下载你想做的指数基金 </a:t>
                </a:r>
                <a:r>
                  <a:rPr lang="en-US" altLang="zh-CN" sz="1000" dirty="0"/>
                  <a:t>/ ETF </a:t>
                </a:r>
                <a:r>
                  <a:rPr lang="zh-CN" altLang="en-US" sz="1000" dirty="0"/>
                  <a:t>的历史日线数据：</a:t>
                </a:r>
                <a:br>
                  <a:rPr lang="zh-CN" altLang="en-US" sz="1000" dirty="0"/>
                </a:br>
                <a:r>
                  <a:rPr lang="zh-CN" altLang="en-US" sz="1000" dirty="0"/>
                  <a:t>包含日期、收盘价、复权信息等。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时间越长越好：至少 </a:t>
                </a:r>
                <a:r>
                  <a:rPr lang="en-US" altLang="zh-CN" sz="1000" dirty="0"/>
                  <a:t>10 </a:t>
                </a:r>
                <a:r>
                  <a:rPr lang="zh-CN" altLang="en-US" sz="1000" dirty="0"/>
                  <a:t>年，更理想是 </a:t>
                </a:r>
                <a:r>
                  <a:rPr lang="en-US" altLang="zh-CN" sz="1000" dirty="0"/>
                  <a:t>20 </a:t>
                </a:r>
                <a:r>
                  <a:rPr lang="zh-CN" altLang="en-US" sz="1000" dirty="0"/>
                  <a:t>年。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6.2 </a:t>
                </a:r>
                <a:r>
                  <a:rPr lang="zh-CN" altLang="en-US" sz="1000" b="1" dirty="0"/>
                  <a:t>做一个最原始的回测</a:t>
                </a:r>
              </a:p>
              <a:p>
                <a:pPr>
                  <a:buNone/>
                </a:pPr>
                <a:r>
                  <a:rPr lang="zh-CN" altLang="en-US" sz="1000" dirty="0"/>
                  <a:t>对每一天 </a:t>
                </a:r>
                <a:r>
                  <a:rPr lang="en-US" altLang="zh-CN" sz="1000" dirty="0"/>
                  <a:t>t</a:t>
                </a:r>
                <a:r>
                  <a:rPr lang="zh-CN" altLang="en-US" sz="1000" dirty="0"/>
                  <a:t>：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dirty="0"/>
                  <a:t>计算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SMA200(t)</a:t>
                </a:r>
                <a:endParaRPr lang="zh-CN" altLang="en-US" sz="1000" dirty="0"/>
              </a:p>
              <a:p>
                <a:pPr>
                  <a:buFont typeface="+mj-lt"/>
                  <a:buAutoNum type="arabicPeriod"/>
                </a:pPr>
                <a:r>
                  <a:rPr lang="zh-CN" altLang="en-US" sz="1000" dirty="0"/>
                  <a:t>判断：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若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Close(t) &gt; SMA200(t)</a:t>
                </a:r>
                <a:r>
                  <a:rPr lang="zh-CN" altLang="en-US" sz="1000" dirty="0"/>
                  <a:t> ⇒ 当天持有 </a:t>
                </a:r>
                <a:r>
                  <a:rPr lang="en-US" altLang="zh-CN" sz="1000" dirty="0"/>
                  <a:t>1 </a:t>
                </a:r>
                <a:r>
                  <a:rPr lang="zh-CN" altLang="en-US" sz="1000" dirty="0"/>
                  <a:t>单位指数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若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Close(t) &lt; SMA200(t)</a:t>
                </a:r>
                <a:r>
                  <a:rPr lang="zh-CN" altLang="en-US" sz="1000" dirty="0"/>
                  <a:t> ⇒ 当天全部持有现金（收益为 </a:t>
                </a:r>
                <a:r>
                  <a:rPr lang="en-US" altLang="zh-CN" sz="1000" dirty="0"/>
                  <a:t>0 </a:t>
                </a:r>
                <a:r>
                  <a:rPr lang="zh-CN" altLang="en-US" sz="1000" dirty="0"/>
                  <a:t>或按货基利率）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dirty="0"/>
                  <a:t>计算每日收益，再连乘得到总曲线。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dirty="0"/>
                  <a:t>对比：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纯买入持有指数（一直 </a:t>
                </a:r>
                <a:r>
                  <a:rPr lang="en-US" altLang="zh-CN" sz="1000" dirty="0"/>
                  <a:t>100% </a:t>
                </a:r>
                <a:r>
                  <a:rPr lang="zh-CN" altLang="en-US" sz="1000" dirty="0"/>
                  <a:t>在场）；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你的策略曲线。</a:t>
                </a:r>
              </a:p>
              <a:p>
                <a:pPr>
                  <a:buNone/>
                </a:pPr>
                <a:r>
                  <a:rPr lang="zh-CN" altLang="en-US" sz="1000" dirty="0"/>
                  <a:t>重点看：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年化收益（</a:t>
                </a:r>
                <a:r>
                  <a:rPr lang="en-US" altLang="zh-CN" sz="1000" dirty="0"/>
                  <a:t>CAGR</a:t>
                </a:r>
                <a:r>
                  <a:rPr lang="zh-CN" altLang="en-US" sz="1000" dirty="0"/>
                  <a:t>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最大回撤（</a:t>
                </a:r>
                <a:r>
                  <a:rPr lang="en-US" altLang="zh-CN" sz="1000" dirty="0"/>
                  <a:t>Max Drawdown</a:t>
                </a:r>
                <a:r>
                  <a:rPr lang="zh-CN" altLang="en-US" sz="1000" dirty="0"/>
                  <a:t>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夏普比率 </a:t>
                </a:r>
                <a:r>
                  <a:rPr lang="en-US" altLang="zh-CN" sz="1000" dirty="0"/>
                  <a:t>/ </a:t>
                </a:r>
                <a:r>
                  <a:rPr lang="zh-CN" altLang="en-US" sz="1000" dirty="0"/>
                  <a:t>年化波动</a:t>
                </a:r>
              </a:p>
              <a:p>
                <a:pPr>
                  <a:buNone/>
                </a:pPr>
                <a:r>
                  <a:rPr lang="zh-CN" altLang="en-US" sz="1000" dirty="0"/>
                  <a:t>如果回测结果显示：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你的策略年化接近甚至略高于买入持有；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回撤明显比买入持有小；</a:t>
                </a:r>
              </a:p>
              <a:p>
                <a:pPr>
                  <a:buNone/>
                </a:pPr>
                <a:r>
                  <a:rPr lang="zh-CN" altLang="en-US" sz="1000" dirty="0"/>
                  <a:t>那这就是一个</a:t>
                </a:r>
                <a:r>
                  <a:rPr lang="zh-CN" altLang="en-US" sz="1000" b="1" dirty="0"/>
                  <a:t>更容易扛得住的</a:t>
                </a:r>
                <a:r>
                  <a:rPr lang="zh-CN" altLang="en-US" sz="1000" dirty="0"/>
                  <a:t>长期策略，哪怕未来做不到 </a:t>
                </a:r>
                <a:r>
                  <a:rPr lang="en-US" altLang="zh-CN" sz="1000" dirty="0"/>
                  <a:t>10%</a:t>
                </a:r>
                <a:r>
                  <a:rPr lang="zh-CN" altLang="en-US" sz="1000" dirty="0"/>
                  <a:t>，但可能也比你情绪化买卖更好。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7. </a:t>
                </a:r>
                <a:r>
                  <a:rPr lang="zh-CN" altLang="en-US" sz="1000" b="1" dirty="0"/>
                  <a:t>风险和坑，我必须提醒你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未来≠过去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历史上好用，不代表未来 </a:t>
                </a:r>
                <a:r>
                  <a:rPr lang="en-US" altLang="zh-CN" sz="1000" dirty="0"/>
                  <a:t>10 </a:t>
                </a:r>
                <a:r>
                  <a:rPr lang="zh-CN" altLang="en-US" sz="1000" dirty="0"/>
                  <a:t>年还好用；趋势策略也可能长时间失灵。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假突破和震荡市会持续消耗耐心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若某几年市场一直横着，你可能一直“被上下线来回晃”，收益远低于简单买入持有。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单一国家市场的风险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若你只做一个高波动、结构僵硬的市场（你懂的），那指数长期表现本身就可能不佳，“加过滤”也救不回整体收益。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执行纪律是最难的部分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真正的难点不是算均线，而是：</a:t>
                </a:r>
                <a:r>
                  <a:rPr lang="zh-CN" altLang="en-US" sz="1000" b="1" dirty="0"/>
                  <a:t>跌破就真卖、站上就真买，不瞎操作、不删改规则。</a:t>
                </a:r>
                <a:endParaRPr lang="zh-CN" altLang="en-US" sz="1000" dirty="0"/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8. </a:t>
                </a:r>
                <a:r>
                  <a:rPr lang="zh-CN" altLang="en-US" sz="1000" b="1" dirty="0"/>
                  <a:t>如果你想把它进一步“打磨”成目标年化 </a:t>
                </a:r>
                <a:r>
                  <a:rPr lang="en-US" altLang="zh-CN" sz="1000" b="1" dirty="0"/>
                  <a:t>10% </a:t>
                </a:r>
                <a:r>
                  <a:rPr lang="zh-CN" altLang="en-US" sz="1000" b="1" dirty="0"/>
                  <a:t>的组合</a:t>
                </a:r>
              </a:p>
              <a:p>
                <a:pPr>
                  <a:buNone/>
                </a:pPr>
                <a:r>
                  <a:rPr lang="zh-CN" altLang="en-US" sz="1000" dirty="0"/>
                  <a:t>可以在这个基础上做两件事：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多资产版</a:t>
                </a:r>
                <a:r>
                  <a:rPr lang="zh-CN" altLang="en-US" sz="1000" dirty="0"/>
                  <a:t>：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除了本国大盘指数，再加：美股指数、发达国家股指、新兴市场股指、长期国债、黄金等；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每个资产都用类似均线过滤，然后按一定权重做组合，整体波动会更平滑，收益容易接近 </a:t>
                </a:r>
                <a:r>
                  <a:rPr lang="en-US" altLang="zh-CN" sz="1000" dirty="0"/>
                  <a:t>8–10%</a:t>
                </a:r>
                <a:r>
                  <a:rPr lang="zh-CN" altLang="en-US" sz="1000" dirty="0"/>
                  <a:t>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轻微杠杆</a:t>
                </a:r>
                <a:r>
                  <a:rPr lang="zh-CN" altLang="en-US" sz="1000" dirty="0"/>
                  <a:t>（高级玩法，慎用）：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例如在一个波动适中、回测表现稳健的多资产组合上，加 </a:t>
                </a:r>
                <a:r>
                  <a:rPr lang="en-US" altLang="zh-CN" sz="1000" dirty="0"/>
                  <a:t>1.2–1.3 </a:t>
                </a:r>
                <a:r>
                  <a:rPr lang="zh-CN" altLang="en-US" sz="1000" dirty="0"/>
                  <a:t>倍轻杠杆，让预期年化从 </a:t>
                </a:r>
                <a:r>
                  <a:rPr lang="en-US" altLang="zh-CN" sz="1000" dirty="0"/>
                  <a:t>7–8% </a:t>
                </a:r>
                <a:r>
                  <a:rPr lang="zh-CN" altLang="en-US" sz="1000" dirty="0"/>
                  <a:t>提到 </a:t>
                </a:r>
                <a:r>
                  <a:rPr lang="en-US" altLang="zh-CN" sz="1000" dirty="0"/>
                  <a:t>9–11%</a:t>
                </a:r>
                <a:r>
                  <a:rPr lang="zh-CN" altLang="en-US" sz="1000" dirty="0"/>
                  <a:t>。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但这必须在你对风险有非常清醒认识之后再考虑。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zh-CN" altLang="en-US" sz="1000" dirty="0"/>
                  <a:t>如果你愿意，下一步我可以帮你：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用“某一个你指定的指数 </a:t>
                </a:r>
                <a:r>
                  <a:rPr lang="en-US" altLang="zh-CN" sz="1000" dirty="0"/>
                  <a:t>ETF”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写出一份 </a:t>
                </a:r>
                <a:r>
                  <a:rPr lang="zh-CN" altLang="en-US" sz="1000" b="1" dirty="0"/>
                  <a:t>完整的 </a:t>
                </a:r>
                <a:r>
                  <a:rPr lang="en-US" altLang="zh-CN" sz="1000" b="1" dirty="0"/>
                  <a:t>Python </a:t>
                </a:r>
                <a:r>
                  <a:rPr lang="zh-CN" altLang="en-US" sz="1000" b="1" dirty="0"/>
                  <a:t>回测脚本</a:t>
                </a:r>
                <a:r>
                  <a:rPr lang="zh-CN" altLang="en-US" sz="1000" dirty="0"/>
                  <a:t>（或 </a:t>
                </a:r>
                <a:r>
                  <a:rPr lang="en-US" altLang="zh-CN" sz="1000" dirty="0"/>
                  <a:t>Excel </a:t>
                </a:r>
                <a:r>
                  <a:rPr lang="zh-CN" altLang="en-US" sz="1000" dirty="0"/>
                  <a:t>公式），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让你用真实历史数据看一眼：过去 </a:t>
                </a:r>
                <a:r>
                  <a:rPr lang="en-US" altLang="zh-CN" sz="1000" dirty="0"/>
                  <a:t>10–20 </a:t>
                </a:r>
                <a:r>
                  <a:rPr lang="zh-CN" altLang="en-US" sz="1000" dirty="0"/>
                  <a:t>年，这个简单策略在你的市场到底能达到多少年化、多少回撤，然后再谈要不要</a:t>
                </a:r>
                <a:endParaRPr lang="en-US" altLang="zh-CN" sz="1000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zh-CN" altLang="en-US" sz="1000" dirty="0"/>
                  <a:t>追求“年化 </a:t>
                </a:r>
                <a:r>
                  <a:rPr lang="en-US" altLang="zh-CN" sz="1000" dirty="0"/>
                  <a:t>10%”</a:t>
                </a:r>
                <a:r>
                  <a:rPr lang="zh-CN" altLang="en-US" sz="1000" dirty="0"/>
                  <a:t>。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2 </a:t>
                </a:r>
                <a:r>
                  <a:rPr lang="zh-CN" altLang="en-US" dirty="0"/>
                  <a:t>小学生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altLang="zh-CN" sz="1000" dirty="0"/>
                  <a:t>1 - </a:t>
                </a:r>
                <a:r>
                  <a:rPr lang="zh-CN" altLang="en-US" sz="1000" dirty="0"/>
                  <a:t>普通人</a:t>
                </a:r>
                <a:endParaRPr lang="en-US" altLang="zh-CN" sz="1000" dirty="0"/>
              </a:p>
              <a:p>
                <a:pPr>
                  <a:buNone/>
                </a:pPr>
                <a:endParaRPr lang="en-US" altLang="zh-CN" sz="1000" dirty="0"/>
              </a:p>
              <a:p>
                <a:pPr>
                  <a:buNone/>
                </a:pPr>
                <a:r>
                  <a:rPr lang="zh-CN" altLang="en-US" sz="1000" dirty="0"/>
                  <a:t>先把话说在前面：</a:t>
                </a:r>
                <a:br>
                  <a:rPr lang="zh-CN" altLang="en-US" sz="1000" dirty="0"/>
                </a:br>
                <a:r>
                  <a:rPr lang="zh-CN" altLang="en-US" sz="1000" b="1" dirty="0"/>
                  <a:t>不存在任何“保证稳定年化 </a:t>
                </a:r>
                <a:r>
                  <a:rPr lang="en-US" altLang="zh-CN" sz="1000" b="1" dirty="0"/>
                  <a:t>10%”</a:t>
                </a:r>
                <a:r>
                  <a:rPr lang="zh-CN" altLang="en-US" sz="1000" b="1" dirty="0"/>
                  <a:t>的算法。</a:t>
                </a:r>
                <a:br>
                  <a:rPr lang="zh-CN" altLang="en-US" sz="1000" dirty="0"/>
                </a:br>
                <a:r>
                  <a:rPr lang="zh-CN" altLang="en-US" sz="1000" dirty="0"/>
                  <a:t>我能做的是：给你一个</a:t>
                </a:r>
                <a:r>
                  <a:rPr lang="zh-CN" altLang="en-US" sz="1000" b="1" dirty="0"/>
                  <a:t>逻辑简单、可量化、历史上有不错表现</a:t>
                </a:r>
                <a:r>
                  <a:rPr lang="zh-CN" altLang="en-US" sz="1000" dirty="0"/>
                  <a:t>、目标年化在 </a:t>
                </a:r>
                <a:r>
                  <a:rPr lang="en-US" altLang="zh-CN" sz="1000" dirty="0"/>
                  <a:t>8–12% </a:t>
                </a:r>
                <a:r>
                  <a:rPr lang="zh-CN" altLang="en-US" sz="1000" dirty="0"/>
                  <a:t>区间的思路，你自己用回测和小资金去验证，而不是直接 </a:t>
                </a:r>
                <a:r>
                  <a:rPr lang="en-US" altLang="zh-CN" sz="1000" dirty="0"/>
                  <a:t>All in</a:t>
                </a:r>
                <a:r>
                  <a:rPr lang="zh-CN" altLang="en-US" sz="1000" dirty="0"/>
                  <a:t>。</a:t>
                </a:r>
              </a:p>
              <a:p>
                <a:pPr>
                  <a:buNone/>
                </a:pPr>
                <a:r>
                  <a:rPr lang="zh-CN" altLang="en-US" sz="1000" dirty="0"/>
                  <a:t>下面我给你介绍一套：</a:t>
                </a:r>
              </a:p>
              <a:p>
                <a:pPr>
                  <a:buNone/>
                </a:pPr>
                <a:r>
                  <a:rPr lang="zh-CN" altLang="en-US" sz="1000" b="1" dirty="0"/>
                  <a:t>“大盘指数 </a:t>
                </a:r>
                <a:r>
                  <a:rPr lang="en-US" altLang="zh-CN" sz="1000" b="1" dirty="0"/>
                  <a:t>+ </a:t>
                </a:r>
                <a:r>
                  <a:rPr lang="zh-CN" altLang="en-US" sz="1000" b="1" dirty="0"/>
                  <a:t>均线趋势过滤” 的机械策略</a:t>
                </a:r>
                <a:br>
                  <a:rPr lang="zh-CN" altLang="en-US" sz="1000" dirty="0"/>
                </a:br>
                <a:r>
                  <a:rPr lang="en-US" altLang="zh-CN" sz="1000" dirty="0"/>
                  <a:t>——</a:t>
                </a:r>
                <a:r>
                  <a:rPr lang="zh-CN" altLang="en-US" sz="1000" dirty="0"/>
                  <a:t>只用一个品种、一条均线、一套非常好理解的规则。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1. </a:t>
                </a:r>
                <a:r>
                  <a:rPr lang="zh-CN" altLang="en-US" sz="1000" b="1" dirty="0"/>
                  <a:t>思路用一句话说清楚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只做一个宽基指数</a:t>
                </a:r>
                <a:r>
                  <a:rPr lang="zh-CN" altLang="en-US" sz="1000" dirty="0"/>
                  <a:t>：比如你所在市场的“全市场</a:t>
                </a:r>
                <a:r>
                  <a:rPr lang="en-US" altLang="zh-CN" sz="1000" dirty="0"/>
                  <a:t>/</a:t>
                </a:r>
                <a:r>
                  <a:rPr lang="zh-CN" altLang="en-US" sz="1000" dirty="0"/>
                  <a:t>大盘指数基金或 </a:t>
                </a:r>
                <a:r>
                  <a:rPr lang="en-US" altLang="zh-CN" sz="1000" dirty="0"/>
                  <a:t>ETF”</a:t>
                </a:r>
                <a:r>
                  <a:rPr lang="zh-CN" altLang="en-US" sz="1000" dirty="0"/>
                  <a:t>，代表整个股市。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大盘走长期上升趋势时才入场</a:t>
                </a:r>
                <a:r>
                  <a:rPr lang="zh-CN" altLang="en-US" sz="1000" dirty="0"/>
                  <a:t>，大盘走长期下降趋势时就躲在货币基金或短债里。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趋势用一条</a:t>
                </a:r>
                <a:r>
                  <a:rPr lang="zh-CN" altLang="en-US" sz="1000" b="1" dirty="0"/>
                  <a:t>长期均线</a:t>
                </a:r>
                <a:r>
                  <a:rPr lang="zh-CN" altLang="en-US" sz="1000" dirty="0"/>
                  <a:t>来判断，比如 </a:t>
                </a:r>
                <a:r>
                  <a:rPr lang="en-US" altLang="zh-CN" sz="1000" b="1" dirty="0"/>
                  <a:t>200 </a:t>
                </a:r>
                <a:r>
                  <a:rPr lang="zh-CN" altLang="en-US" sz="1000" b="1" dirty="0"/>
                  <a:t>日简单移动平均线（</a:t>
                </a:r>
                <a:r>
                  <a:rPr lang="en-US" altLang="zh-CN" sz="1000" b="1" dirty="0"/>
                  <a:t>SMA200</a:t>
                </a:r>
                <a:r>
                  <a:rPr lang="zh-CN" altLang="en-US" sz="1000" b="1" dirty="0"/>
                  <a:t>）</a:t>
                </a:r>
                <a:r>
                  <a:rPr lang="zh-CN" altLang="en-US" sz="1000" dirty="0"/>
                  <a:t>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全程</a:t>
                </a:r>
                <a:r>
                  <a:rPr lang="zh-CN" altLang="en-US" sz="1000" b="1" dirty="0"/>
                  <a:t>不加杠杆，不做空</a:t>
                </a:r>
                <a:r>
                  <a:rPr lang="zh-CN" altLang="en-US" sz="1000" dirty="0"/>
                  <a:t>，只是在“股市风险”与“现金</a:t>
                </a:r>
                <a:r>
                  <a:rPr lang="en-US" altLang="zh-CN" sz="1000" dirty="0"/>
                  <a:t>/</a:t>
                </a:r>
                <a:r>
                  <a:rPr lang="zh-CN" altLang="en-US" sz="1000" dirty="0"/>
                  <a:t>债券安全”之间切换。</a:t>
                </a:r>
              </a:p>
              <a:p>
                <a:pPr>
                  <a:buNone/>
                </a:pPr>
                <a:r>
                  <a:rPr lang="zh-CN" altLang="en-US" sz="1000" dirty="0"/>
                  <a:t>目标：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长期收益 ≈ 股市长期收益 </a:t>
                </a:r>
                <a:r>
                  <a:rPr lang="en-US" altLang="zh-CN" sz="1000" b="1" dirty="0"/>
                  <a:t>×</a:t>
                </a:r>
                <a:r>
                  <a:rPr lang="zh-CN" altLang="en-US" sz="1000" b="1" dirty="0"/>
                  <a:t>（在场时间比例）</a:t>
                </a:r>
                <a:endParaRPr lang="zh-CN" altLang="en-US" sz="1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且</a:t>
                </a:r>
                <a:r>
                  <a:rPr lang="zh-CN" altLang="en-US" sz="1000" b="1" dirty="0"/>
                  <a:t>回撤比死拿股票小很多</a:t>
                </a:r>
                <a:r>
                  <a:rPr lang="zh-CN" altLang="en-US" sz="1000" dirty="0"/>
                  <a:t>，心理压力更可控，更适合普通人长期坚持。</a:t>
                </a:r>
              </a:p>
              <a:p>
                <a:pPr>
                  <a:buNone/>
                </a:pPr>
                <a:r>
                  <a:rPr lang="zh-CN" altLang="en-US" sz="1000" dirty="0"/>
                  <a:t>这类“趋势跟随 </a:t>
                </a:r>
                <a:r>
                  <a:rPr lang="en-US" altLang="zh-CN" sz="1000" dirty="0"/>
                  <a:t>+ </a:t>
                </a:r>
                <a:r>
                  <a:rPr lang="zh-CN" altLang="en-US" sz="1000" dirty="0"/>
                  <a:t>宏观风险过滤”的方法，在学术和实盘里都被大量研究过：在长期样本上，往往能把“很差的熊市”过滤掉一部分，让曲线更平滑，虽然也会错过一些急涨行情。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2. </a:t>
                </a:r>
                <a:r>
                  <a:rPr lang="zh-CN" altLang="en-US" sz="1000" b="1" dirty="0"/>
                  <a:t>具体规则（可以直接写进代码 </a:t>
                </a:r>
                <a:r>
                  <a:rPr lang="en-US" altLang="zh-CN" sz="1000" b="1" dirty="0"/>
                  <a:t>/ Excel</a:t>
                </a:r>
                <a:r>
                  <a:rPr lang="zh-CN" altLang="en-US" sz="1000" b="1" dirty="0"/>
                  <a:t>）</a:t>
                </a:r>
              </a:p>
              <a:p>
                <a:pPr>
                  <a:buNone/>
                </a:pPr>
                <a:r>
                  <a:rPr lang="zh-CN" altLang="en-US" sz="1000" dirty="0"/>
                  <a:t>假设你只做一个指数基金：叫它 </a:t>
                </a:r>
                <a:r>
                  <a:rPr lang="en-US" altLang="zh-CN" sz="1000" dirty="0" err="1">
                    <a:latin typeface="Courier New" panose="02070309020205020404" pitchFamily="49" charset="0"/>
                  </a:rPr>
                  <a:t>IndexETF</a:t>
                </a:r>
                <a:r>
                  <a:rPr lang="zh-CN" altLang="en-US" sz="1000" dirty="0"/>
                  <a:t>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2.1 </a:t>
                </a:r>
                <a:r>
                  <a:rPr lang="zh-CN" altLang="en-US" sz="1000" b="1" dirty="0"/>
                  <a:t>交易频率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每天收盘后</a:t>
                </a:r>
                <a:r>
                  <a:rPr lang="zh-CN" altLang="en-US" sz="1000" dirty="0"/>
                  <a:t>检查一次；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或者简单点：</a:t>
                </a:r>
                <a:r>
                  <a:rPr lang="zh-CN" altLang="en-US" sz="1000" b="1" dirty="0"/>
                  <a:t>每周最后一个交易日收盘后</a:t>
                </a:r>
                <a:r>
                  <a:rPr lang="zh-CN" altLang="en-US" sz="1000" dirty="0"/>
                  <a:t>检查一次（减少交易次数和手续费）。</a:t>
                </a:r>
              </a:p>
              <a:p>
                <a:pPr>
                  <a:buNone/>
                </a:pPr>
                <a:r>
                  <a:rPr lang="zh-CN" altLang="en-US" sz="1000" dirty="0"/>
                  <a:t>下面以“每天检查”说明，逻辑一样。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2.2 </a:t>
                </a:r>
                <a:r>
                  <a:rPr lang="zh-CN" altLang="en-US" sz="1000" b="1" dirty="0"/>
                  <a:t>信号计算</a:t>
                </a:r>
              </a:p>
              <a:p>
                <a:pPr>
                  <a:buNone/>
                </a:pPr>
                <a:r>
                  <a:rPr lang="zh-CN" altLang="en-US" sz="1000" dirty="0"/>
                  <a:t>用过去 </a:t>
                </a:r>
                <a:r>
                  <a:rPr lang="en-US" altLang="zh-CN" sz="1000" dirty="0"/>
                  <a:t>200 </a:t>
                </a:r>
                <a:r>
                  <a:rPr lang="zh-CN" altLang="en-US" sz="1000" dirty="0"/>
                  <a:t>个交易日的收盘价，计算一个简单均线：</a:t>
                </a:r>
              </a:p>
              <a:p>
                <a:pPr>
                  <a:buNone/>
                </a:pPr>
                <a:r>
                  <a:rPr lang="en-US" altLang="zh-CN" sz="1000" b="0" i="0">
                    <a:latin typeface="Cambria Math" panose="02040503050406030204" pitchFamily="18" charset="0"/>
                  </a:rPr>
                  <a:t>"SMA200</a:t>
                </a:r>
                <a:r>
                  <a:rPr lang="zh-CN" altLang="en-US" sz="1000" b="0" i="0">
                    <a:latin typeface="Cambria Math" panose="02040503050406030204" pitchFamily="18" charset="0"/>
                  </a:rPr>
                  <a:t>" (𝑡)</a:t>
                </a:r>
                <a:r>
                  <a:rPr lang="en-US" altLang="zh-CN" sz="1000" b="0" i="0">
                    <a:latin typeface="Cambria Math" panose="02040503050406030204" pitchFamily="18" charset="0"/>
                  </a:rPr>
                  <a:t>=1</a:t>
                </a:r>
                <a:r>
                  <a:rPr lang="zh-CN" altLang="en-US" sz="1000" b="0" i="0">
                    <a:latin typeface="Cambria Math" panose="02040503050406030204" pitchFamily="18" charset="0"/>
                  </a:rPr>
                  <a:t>/</a:t>
                </a:r>
                <a:r>
                  <a:rPr lang="en-US" altLang="zh-CN" sz="1000" b="0" i="0">
                    <a:latin typeface="Cambria Math" panose="02040503050406030204" pitchFamily="18" charset="0"/>
                  </a:rPr>
                  <a:t>200</a:t>
                </a:r>
                <a:r>
                  <a:rPr lang="zh-CN" altLang="en-US" sz="1000" b="0" i="0">
                    <a:latin typeface="Cambria Math" panose="02040503050406030204" pitchFamily="18" charset="0"/>
                  </a:rPr>
                  <a:t> ∑128</a:t>
                </a:r>
                <a:r>
                  <a:rPr lang="en-US" altLang="zh-CN" sz="1000" b="0" i="0">
                    <a:latin typeface="Cambria Math" panose="02040503050406030204" pitchFamily="18" charset="0"/>
                  </a:rPr>
                  <a:t>_</a:t>
                </a:r>
                <a:r>
                  <a:rPr lang="zh-CN" altLang="en-US" sz="1000" b="0" i="0">
                    <a:latin typeface="Cambria Math" panose="02040503050406030204" pitchFamily="18" charset="0"/>
                  </a:rPr>
                  <a:t>(𝑖</a:t>
                </a:r>
                <a:r>
                  <a:rPr lang="en-US" altLang="zh-CN" sz="1000" b="0" i="0">
                    <a:latin typeface="Cambria Math" panose="02040503050406030204" pitchFamily="18" charset="0"/>
                  </a:rPr>
                  <a:t>=0</a:t>
                </a:r>
                <a:r>
                  <a:rPr lang="zh-CN" altLang="en-US" sz="1000" b="0" i="0">
                    <a:latin typeface="Cambria Math" panose="02040503050406030204" pitchFamily="18" charset="0"/>
                  </a:rPr>
                  <a:t>)</a:t>
                </a:r>
                <a:r>
                  <a:rPr lang="en-US" altLang="zh-CN" sz="1000" b="0" i="0">
                    <a:latin typeface="Cambria Math" panose="02040503050406030204" pitchFamily="18" charset="0"/>
                  </a:rPr>
                  <a:t>^199▒"Close" </a:t>
                </a:r>
                <a:r>
                  <a:rPr lang="zh-CN" altLang="en-US" sz="1000" b="0" i="0">
                    <a:latin typeface="Cambria Math" panose="02040503050406030204" pitchFamily="18" charset="0"/>
                  </a:rPr>
                  <a:t> (𝑡−𝑖)</a:t>
                </a:r>
                <a:endParaRPr lang="zh-CN" altLang="en-US" sz="1000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latin typeface="Courier New" panose="02070309020205020404" pitchFamily="49" charset="0"/>
                  </a:rPr>
                  <a:t>Close(t)</a:t>
                </a:r>
                <a:r>
                  <a:rPr lang="zh-CN" altLang="en-US" sz="1000" dirty="0"/>
                  <a:t>：第 </a:t>
                </a:r>
                <a:r>
                  <a:rPr lang="en-US" altLang="zh-CN" sz="1000" dirty="0"/>
                  <a:t>t </a:t>
                </a:r>
                <a:r>
                  <a:rPr lang="zh-CN" altLang="en-US" sz="1000" dirty="0"/>
                  <a:t>天收盘价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latin typeface="Courier New" panose="02070309020205020404" pitchFamily="49" charset="0"/>
                  </a:rPr>
                  <a:t>SMA200(t)</a:t>
                </a:r>
                <a:r>
                  <a:rPr lang="zh-CN" altLang="en-US" sz="1000" dirty="0"/>
                  <a:t>：最近 </a:t>
                </a:r>
                <a:r>
                  <a:rPr lang="en-US" altLang="zh-CN" sz="1000" dirty="0"/>
                  <a:t>200 </a:t>
                </a:r>
                <a:r>
                  <a:rPr lang="zh-CN" altLang="en-US" sz="1000" dirty="0"/>
                  <a:t>个交易日的平均收盘价</a:t>
                </a:r>
              </a:p>
              <a:p>
                <a:pPr>
                  <a:buNone/>
                </a:pPr>
                <a:r>
                  <a:rPr lang="en-US" altLang="zh-CN" sz="1000" b="1" dirty="0"/>
                  <a:t>2.3 </a:t>
                </a:r>
                <a:r>
                  <a:rPr lang="zh-CN" altLang="en-US" sz="1000" b="1" dirty="0"/>
                  <a:t>仓位规则（超好记）</a:t>
                </a:r>
              </a:p>
              <a:p>
                <a:pPr>
                  <a:buNone/>
                </a:pPr>
                <a:r>
                  <a:rPr lang="zh-CN" altLang="en-US" sz="1000" dirty="0"/>
                  <a:t>每天收盘后做判断：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买入 </a:t>
                </a:r>
                <a:r>
                  <a:rPr lang="en-US" altLang="zh-CN" sz="1000" b="1" dirty="0"/>
                  <a:t>/ </a:t>
                </a:r>
                <a:r>
                  <a:rPr lang="zh-CN" altLang="en-US" sz="1000" b="1" dirty="0"/>
                  <a:t>持有信号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条件：</a:t>
                </a:r>
                <a:br>
                  <a:rPr lang="zh-CN" altLang="en-US" sz="1000" dirty="0"/>
                </a:br>
                <a:r>
                  <a:rPr lang="zh-CN" altLang="en-US" sz="1000" dirty="0">
                    <a:latin typeface="Courier New" panose="02070309020205020404" pitchFamily="49" charset="0"/>
                  </a:rPr>
                  <a:t>今日收盘价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&gt; </a:t>
                </a:r>
                <a:r>
                  <a:rPr lang="zh-CN" altLang="en-US" sz="1000" dirty="0">
                    <a:latin typeface="Courier New" panose="02070309020205020404" pitchFamily="49" charset="0"/>
                  </a:rPr>
                  <a:t>今日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SMA200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动作：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zh-CN" altLang="en-US" sz="1000" dirty="0"/>
                  <a:t>把策略资金中，</a:t>
                </a:r>
                <a:r>
                  <a:rPr lang="zh-CN" altLang="en-US" sz="1000" b="1" dirty="0"/>
                  <a:t>目标仓位调到 </a:t>
                </a:r>
                <a:r>
                  <a:rPr lang="en-US" altLang="zh-CN" sz="1000" b="1" dirty="0"/>
                  <a:t>100% </a:t>
                </a:r>
                <a:r>
                  <a:rPr lang="en-US" altLang="zh-CN" sz="1000" b="1" dirty="0" err="1"/>
                  <a:t>IndexETF</a:t>
                </a:r>
                <a:endParaRPr lang="zh-CN" altLang="en-US" sz="1000" dirty="0"/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zh-CN" altLang="en-US" sz="1000" dirty="0"/>
                  <a:t>即：如果现在只有 </a:t>
                </a:r>
                <a:r>
                  <a:rPr lang="en-US" altLang="zh-CN" sz="1000" dirty="0"/>
                  <a:t>40% </a:t>
                </a:r>
                <a:r>
                  <a:rPr lang="zh-CN" altLang="en-US" sz="1000" dirty="0"/>
                  <a:t>在 </a:t>
                </a:r>
                <a:r>
                  <a:rPr lang="en-US" altLang="zh-CN" sz="1000" dirty="0"/>
                  <a:t>ETF</a:t>
                </a:r>
                <a:r>
                  <a:rPr lang="zh-CN" altLang="en-US" sz="1000" dirty="0"/>
                  <a:t>、</a:t>
                </a:r>
                <a:r>
                  <a:rPr lang="en-US" altLang="zh-CN" sz="1000" dirty="0"/>
                  <a:t>60% </a:t>
                </a:r>
                <a:r>
                  <a:rPr lang="zh-CN" altLang="en-US" sz="1000" dirty="0"/>
                  <a:t>在货基，就买入到 </a:t>
                </a:r>
                <a:r>
                  <a:rPr lang="en-US" altLang="zh-CN" sz="1000" dirty="0"/>
                  <a:t>100%</a:t>
                </a:r>
                <a:r>
                  <a:rPr lang="zh-CN" altLang="en-US" sz="1000" dirty="0"/>
                  <a:t>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卖出 </a:t>
                </a:r>
                <a:r>
                  <a:rPr lang="en-US" altLang="zh-CN" sz="1000" b="1" dirty="0"/>
                  <a:t>/ </a:t>
                </a:r>
                <a:r>
                  <a:rPr lang="zh-CN" altLang="en-US" sz="1000" b="1" dirty="0"/>
                  <a:t>空仓信号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条件：</a:t>
                </a:r>
                <a:br>
                  <a:rPr lang="zh-CN" altLang="en-US" sz="1000" dirty="0"/>
                </a:br>
                <a:r>
                  <a:rPr lang="zh-CN" altLang="en-US" sz="1000" dirty="0">
                    <a:latin typeface="Courier New" panose="02070309020205020404" pitchFamily="49" charset="0"/>
                  </a:rPr>
                  <a:t>今日收盘价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&lt; </a:t>
                </a:r>
                <a:r>
                  <a:rPr lang="zh-CN" altLang="en-US" sz="1000" dirty="0">
                    <a:latin typeface="Courier New" panose="02070309020205020404" pitchFamily="49" charset="0"/>
                  </a:rPr>
                  <a:t>今日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SMA200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动作：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zh-CN" altLang="en-US" sz="1000" dirty="0"/>
                  <a:t>把当前持有的 </a:t>
                </a:r>
                <a:r>
                  <a:rPr lang="en-US" altLang="zh-CN" sz="1000" dirty="0" err="1">
                    <a:latin typeface="Courier New" panose="02070309020205020404" pitchFamily="49" charset="0"/>
                  </a:rPr>
                  <a:t>IndexETF</a:t>
                </a:r>
                <a:r>
                  <a:rPr lang="zh-CN" altLang="en-US" sz="1000" dirty="0"/>
                  <a:t> 全部卖出，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zh-CN" altLang="en-US" sz="1000" dirty="0"/>
                  <a:t>资金停在 </a:t>
                </a:r>
                <a:r>
                  <a:rPr lang="zh-CN" altLang="en-US" sz="1000" b="1" dirty="0"/>
                  <a:t>货币基金 </a:t>
                </a:r>
                <a:r>
                  <a:rPr lang="en-US" altLang="zh-CN" sz="1000" b="1" dirty="0"/>
                  <a:t>/ </a:t>
                </a:r>
                <a:r>
                  <a:rPr lang="zh-CN" altLang="en-US" sz="1000" b="1" dirty="0"/>
                  <a:t>短债基金 </a:t>
                </a:r>
                <a:r>
                  <a:rPr lang="en-US" altLang="zh-CN" sz="1000" b="1" dirty="0"/>
                  <a:t>/ </a:t>
                </a:r>
                <a:r>
                  <a:rPr lang="zh-CN" altLang="en-US" sz="1000" b="1" dirty="0"/>
                  <a:t>活期</a:t>
                </a:r>
                <a:r>
                  <a:rPr lang="zh-CN" altLang="en-US" sz="1000" dirty="0"/>
                  <a:t> 等低风险资产里。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无操作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条件：</a:t>
                </a:r>
                <a:br>
                  <a:rPr lang="zh-CN" altLang="en-US" sz="1000" dirty="0"/>
                </a:br>
                <a:r>
                  <a:rPr lang="zh-CN" altLang="en-US" sz="1000" dirty="0">
                    <a:latin typeface="Courier New" panose="02070309020205020404" pitchFamily="49" charset="0"/>
                  </a:rPr>
                  <a:t>收盘价</a:t>
                </a:r>
                <a:r>
                  <a:rPr lang="zh-CN" altLang="en-US" sz="1000" dirty="0"/>
                  <a:t> 与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SMA200</a:t>
                </a:r>
                <a:r>
                  <a:rPr lang="zh-CN" altLang="en-US" sz="1000" dirty="0"/>
                  <a:t> 在同一侧，而且没有“穿越”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动作：</a:t>
                </a:r>
                <a:br>
                  <a:rPr lang="zh-CN" altLang="en-US" sz="1000" dirty="0"/>
                </a:br>
                <a:r>
                  <a:rPr lang="zh-CN" altLang="en-US" sz="1000" dirty="0"/>
                  <a:t>不交易，保持昨日仓位。</a:t>
                </a:r>
              </a:p>
              <a:p>
                <a:pPr>
                  <a:buNone/>
                </a:pPr>
                <a:r>
                  <a:rPr lang="zh-CN" altLang="en-US" sz="1000" dirty="0"/>
                  <a:t>简单记：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站在 </a:t>
                </a:r>
                <a:r>
                  <a:rPr lang="en-US" altLang="zh-CN" sz="1000" b="1" dirty="0"/>
                  <a:t>200 </a:t>
                </a:r>
                <a:r>
                  <a:rPr lang="zh-CN" altLang="en-US" sz="1000" b="1" dirty="0"/>
                  <a:t>日线上：满仓大盘</a:t>
                </a:r>
                <a:endParaRPr lang="zh-CN" altLang="en-US" sz="1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跌破 </a:t>
                </a:r>
                <a:r>
                  <a:rPr lang="en-US" altLang="zh-CN" sz="1000" b="1" dirty="0"/>
                  <a:t>200 </a:t>
                </a:r>
                <a:r>
                  <a:rPr lang="zh-CN" altLang="en-US" sz="1000" b="1" dirty="0"/>
                  <a:t>日线：全部躲到现金或债券</a:t>
                </a:r>
                <a:endParaRPr lang="zh-CN" altLang="en-US" sz="1000" dirty="0"/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3. </a:t>
                </a:r>
                <a:r>
                  <a:rPr lang="zh-CN" altLang="en-US" sz="1000" b="1" dirty="0"/>
                  <a:t>风控细节（让它更“稳”一点）</a:t>
                </a:r>
              </a:p>
              <a:p>
                <a:pPr>
                  <a:buNone/>
                </a:pPr>
                <a:r>
                  <a:rPr lang="zh-CN" altLang="en-US" sz="1000" dirty="0"/>
                  <a:t>光靠这条线还不够，我们给它加几条非常容易实现的安全带。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3.1 </a:t>
                </a:r>
                <a:r>
                  <a:rPr lang="zh-CN" altLang="en-US" sz="1000" b="1" dirty="0"/>
                  <a:t>最大仓位限制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即便信号是满仓，也可以设置</a:t>
                </a:r>
                <a:br>
                  <a:rPr lang="zh-CN" altLang="en-US" sz="1000" dirty="0"/>
                </a:br>
                <a:r>
                  <a:rPr lang="zh-CN" altLang="en-US" sz="1000" dirty="0">
                    <a:latin typeface="Courier New" panose="02070309020205020404" pitchFamily="49" charset="0"/>
                  </a:rPr>
                  <a:t>最大股票仓位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= 80%</a:t>
                </a:r>
                <a:br>
                  <a:rPr lang="zh-CN" altLang="en-US" sz="1000" dirty="0"/>
                </a:br>
                <a:r>
                  <a:rPr lang="zh-CN" altLang="en-US" sz="1000" dirty="0"/>
                  <a:t>另外 </a:t>
                </a:r>
                <a:r>
                  <a:rPr lang="en-US" altLang="zh-CN" sz="1000" dirty="0"/>
                  <a:t>20% </a:t>
                </a:r>
                <a:r>
                  <a:rPr lang="zh-CN" altLang="en-US" sz="1000" dirty="0"/>
                  <a:t>永远放在货币基金里当缓冲。</a:t>
                </a:r>
              </a:p>
              <a:p>
                <a:pPr>
                  <a:buNone/>
                </a:pPr>
                <a:r>
                  <a:rPr lang="zh-CN" altLang="en-US" sz="1000" dirty="0"/>
                  <a:t>优点：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遇到闪崩、黑天鹅，账户不会一下子全线暴跌；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心理上也更容易扛得住。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3.2 </a:t>
                </a:r>
                <a:r>
                  <a:rPr lang="zh-CN" altLang="en-US" sz="1000" b="1" dirty="0"/>
                  <a:t>交易冷静期（防止“假突破”频繁打脸）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规定：信号刚刚从“空仓 → 满仓”或“满仓 → 空仓”切换后，</a:t>
                </a:r>
                <a:r>
                  <a:rPr lang="zh-CN" altLang="en-US" sz="1000" b="1" dirty="0"/>
                  <a:t>至少等待 </a:t>
                </a:r>
                <a:r>
                  <a:rPr lang="en-US" altLang="zh-CN" sz="1000" b="1" dirty="0"/>
                  <a:t>5 </a:t>
                </a:r>
                <a:r>
                  <a:rPr lang="zh-CN" altLang="en-US" sz="1000" b="1" dirty="0"/>
                  <a:t>个交易日</a:t>
                </a:r>
                <a:r>
                  <a:rPr lang="zh-CN" altLang="en-US" sz="1000" dirty="0"/>
                  <a:t>才允许下一次反向切换。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这样可以减少连续几天反复上下穿均线导致的“来回打脸 </a:t>
                </a:r>
                <a:r>
                  <a:rPr lang="en-US" altLang="zh-CN" sz="1000" dirty="0"/>
                  <a:t>+ </a:t>
                </a:r>
                <a:r>
                  <a:rPr lang="zh-CN" altLang="en-US" sz="1000" dirty="0"/>
                  <a:t>手续费”。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3.3 </a:t>
                </a:r>
                <a:r>
                  <a:rPr lang="zh-CN" altLang="en-US" sz="1000" b="1" dirty="0"/>
                  <a:t>资金分批进出（减轻心里压力）</a:t>
                </a:r>
              </a:p>
              <a:p>
                <a:pPr>
                  <a:buNone/>
                </a:pPr>
                <a:r>
                  <a:rPr lang="zh-CN" altLang="en-US" sz="1000" dirty="0"/>
                  <a:t>入场时不要一下子梭哈，可以拆成三档：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第一天信号出现：先买入目标仓位的 </a:t>
                </a:r>
                <a:r>
                  <a:rPr lang="en-US" altLang="zh-CN" sz="1000" dirty="0"/>
                  <a:t>1/3</a:t>
                </a:r>
                <a:r>
                  <a:rPr lang="zh-CN" altLang="en-US" sz="1000" dirty="0"/>
                  <a:t>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如果 </a:t>
                </a:r>
                <a:r>
                  <a:rPr lang="en-US" altLang="zh-CN" sz="1000" dirty="0"/>
                  <a:t>3 </a:t>
                </a:r>
                <a:r>
                  <a:rPr lang="zh-CN" altLang="en-US" sz="1000" dirty="0"/>
                  <a:t>天内信号仍然有效：再买 </a:t>
                </a:r>
                <a:r>
                  <a:rPr lang="en-US" altLang="zh-CN" sz="1000" dirty="0"/>
                  <a:t>1/3</a:t>
                </a:r>
                <a:r>
                  <a:rPr lang="zh-CN" altLang="en-US" sz="1000" dirty="0"/>
                  <a:t>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再过 </a:t>
                </a:r>
                <a:r>
                  <a:rPr lang="en-US" altLang="zh-CN" sz="1000" dirty="0"/>
                  <a:t>3 </a:t>
                </a:r>
                <a:r>
                  <a:rPr lang="zh-CN" altLang="en-US" sz="1000" dirty="0"/>
                  <a:t>天仍有效：补齐最后 </a:t>
                </a:r>
                <a:r>
                  <a:rPr lang="en-US" altLang="zh-CN" sz="1000" dirty="0"/>
                  <a:t>1/3</a:t>
                </a:r>
                <a:r>
                  <a:rPr lang="zh-CN" altLang="en-US" sz="1000" dirty="0"/>
                  <a:t>。</a:t>
                </a:r>
              </a:p>
              <a:p>
                <a:pPr>
                  <a:buNone/>
                </a:pPr>
                <a:r>
                  <a:rPr lang="zh-CN" altLang="en-US" sz="1000" dirty="0"/>
                  <a:t>出场时也分三步卖出。</a:t>
                </a:r>
                <a:br>
                  <a:rPr lang="zh-CN" altLang="en-US" sz="1000" dirty="0"/>
                </a:br>
                <a:r>
                  <a:rPr lang="zh-CN" altLang="en-US" sz="1000" dirty="0"/>
                  <a:t>逻辑没变，只是上车和下车更平滑一点，减少“刚买就跌</a:t>
                </a:r>
                <a:r>
                  <a:rPr lang="en-US" altLang="zh-CN" sz="1000" dirty="0"/>
                  <a:t>/</a:t>
                </a:r>
                <a:r>
                  <a:rPr lang="zh-CN" altLang="en-US" sz="1000" dirty="0"/>
                  <a:t>刚卖就涨”的心理折磨。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4. </a:t>
                </a:r>
                <a:r>
                  <a:rPr lang="zh-CN" altLang="en-US" sz="1000" b="1" dirty="0"/>
                  <a:t>为什么这种策略有机会做到“长期 ≈ </a:t>
                </a:r>
                <a:r>
                  <a:rPr lang="en-US" altLang="zh-CN" sz="1000" b="1" dirty="0"/>
                  <a:t>10% </a:t>
                </a:r>
                <a:r>
                  <a:rPr lang="zh-CN" altLang="en-US" sz="1000" b="1" dirty="0"/>
                  <a:t>年化”</a:t>
                </a:r>
              </a:p>
              <a:p>
                <a:pPr>
                  <a:buNone/>
                </a:pPr>
                <a:r>
                  <a:rPr lang="zh-CN" altLang="en-US" sz="1000" dirty="0"/>
                  <a:t>先说一句：</a:t>
                </a:r>
                <a:r>
                  <a:rPr lang="zh-CN" altLang="en-US" sz="1000" b="1" dirty="0"/>
                  <a:t>这只是一个目标区间，不是承诺。</a:t>
                </a: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4.1 </a:t>
                </a:r>
                <a:r>
                  <a:rPr lang="zh-CN" altLang="en-US" sz="1000" b="1" dirty="0"/>
                  <a:t>非常粗的直觉估算（不做回测版）</a:t>
                </a:r>
              </a:p>
              <a:p>
                <a:pPr>
                  <a:buNone/>
                </a:pPr>
                <a:r>
                  <a:rPr lang="zh-CN" altLang="en-US" sz="1000" dirty="0"/>
                  <a:t>假设你所在的股市长期有这样一个特征（很多国家股市大概类似）：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b="1" dirty="0"/>
                  <a:t>长期股市名义收益</a:t>
                </a:r>
                <a:r>
                  <a:rPr lang="zh-CN" altLang="en-US" sz="1000" dirty="0"/>
                  <a:t>大约在 </a:t>
                </a:r>
                <a:r>
                  <a:rPr lang="en-US" altLang="zh-CN" sz="1000" dirty="0"/>
                  <a:t>8–12%/</a:t>
                </a:r>
                <a:r>
                  <a:rPr lang="zh-CN" altLang="en-US" sz="1000" dirty="0"/>
                  <a:t>年（包含股息）；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货币基金 </a:t>
                </a:r>
                <a:r>
                  <a:rPr lang="en-US" altLang="zh-CN" sz="1000" dirty="0"/>
                  <a:t>/ </a:t>
                </a:r>
                <a:r>
                  <a:rPr lang="zh-CN" altLang="en-US" sz="1000" dirty="0"/>
                  <a:t>短债长期大概 </a:t>
                </a:r>
                <a:r>
                  <a:rPr lang="en-US" altLang="zh-CN" sz="1000" dirty="0"/>
                  <a:t>2–4%/</a:t>
                </a:r>
                <a:r>
                  <a:rPr lang="zh-CN" altLang="en-US" sz="1000" dirty="0"/>
                  <a:t>年左右；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牛市时，指数涨得多且持续；熊市时，指数可以在几年里负收益甚至腰斩。</a:t>
                </a:r>
              </a:p>
              <a:p>
                <a:pPr>
                  <a:buNone/>
                </a:pPr>
                <a:r>
                  <a:rPr lang="zh-CN" altLang="en-US" sz="1000" dirty="0"/>
                  <a:t>这个策略的行为：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在牛市中，价格大部分时间在 </a:t>
                </a:r>
                <a:r>
                  <a:rPr lang="en-US" altLang="zh-CN" sz="1000" dirty="0"/>
                  <a:t>200 </a:t>
                </a:r>
                <a:r>
                  <a:rPr lang="zh-CN" altLang="en-US" sz="1000" dirty="0"/>
                  <a:t>日线上方 ⇒ 你多数时间在场，享受股市收益。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在深度熊市</a:t>
                </a:r>
                <a:r>
                  <a:rPr lang="en-US" altLang="zh-CN" sz="1000" dirty="0"/>
                  <a:t>/</a:t>
                </a:r>
                <a:r>
                  <a:rPr lang="zh-CN" altLang="en-US" sz="1000" dirty="0"/>
                  <a:t>长熊里，价格长期跌破 </a:t>
                </a:r>
                <a:r>
                  <a:rPr lang="en-US" altLang="zh-CN" sz="1000" dirty="0"/>
                  <a:t>200 </a:t>
                </a:r>
                <a:r>
                  <a:rPr lang="zh-CN" altLang="en-US" sz="1000" dirty="0"/>
                  <a:t>日线 ⇒ 很多时间你在现金</a:t>
                </a:r>
                <a:r>
                  <a:rPr lang="en-US" altLang="zh-CN" sz="1000" dirty="0"/>
                  <a:t>/</a:t>
                </a:r>
                <a:r>
                  <a:rPr lang="zh-CN" altLang="en-US" sz="1000" dirty="0"/>
                  <a:t>债券，不跟着一起跌那么惨。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在震荡市，可能会被来回假突破“多次打脸”，收益会平平甚至略输指数，这是策略的“学费”。</a:t>
                </a:r>
              </a:p>
              <a:p>
                <a:pPr>
                  <a:buNone/>
                </a:pPr>
                <a:r>
                  <a:rPr lang="zh-CN" altLang="en-US" sz="1000" dirty="0"/>
                  <a:t>如果你：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选择的是一个</a:t>
                </a:r>
                <a:r>
                  <a:rPr lang="zh-CN" altLang="en-US" sz="1000" b="1" dirty="0"/>
                  <a:t>优质、长期向上的宽基指数</a:t>
                </a:r>
                <a:r>
                  <a:rPr lang="zh-CN" altLang="en-US" sz="1000" dirty="0"/>
                  <a:t>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按规则执行、</a:t>
                </a:r>
                <a:r>
                  <a:rPr lang="zh-CN" altLang="en-US" sz="1000" b="1" dirty="0"/>
                  <a:t>不加杠杆、不频繁换品种</a:t>
                </a:r>
                <a:r>
                  <a:rPr lang="zh-CN" altLang="en-US" sz="1000" dirty="0"/>
                  <a:t>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且市场整体在未来 </a:t>
                </a:r>
                <a:r>
                  <a:rPr lang="en-US" altLang="zh-CN" sz="1000" dirty="0"/>
                  <a:t>10+ </a:t>
                </a:r>
                <a:r>
                  <a:rPr lang="zh-CN" altLang="en-US" sz="1000" dirty="0"/>
                  <a:t>年仍然向上；</a:t>
                </a:r>
              </a:p>
              <a:p>
                <a:pPr>
                  <a:buNone/>
                </a:pPr>
                <a:r>
                  <a:rPr lang="zh-CN" altLang="en-US" sz="1000" dirty="0"/>
                  <a:t>那么：</a:t>
                </a:r>
                <a:br>
                  <a:rPr lang="zh-CN" altLang="en-US" sz="1000" dirty="0"/>
                </a:br>
                <a:r>
                  <a:rPr lang="zh-CN" altLang="en-US" sz="1000" b="1" dirty="0"/>
                  <a:t>长期下来，这样的“股指 </a:t>
                </a:r>
                <a:r>
                  <a:rPr lang="en-US" altLang="zh-CN" sz="1000" b="1" dirty="0"/>
                  <a:t>+ </a:t>
                </a:r>
                <a:r>
                  <a:rPr lang="zh-CN" altLang="en-US" sz="1000" b="1" dirty="0"/>
                  <a:t>趋势过滤”策略，拿到接近 </a:t>
                </a:r>
                <a:r>
                  <a:rPr lang="en-US" altLang="zh-CN" sz="1000" b="1" dirty="0"/>
                  <a:t>8–10% </a:t>
                </a:r>
                <a:r>
                  <a:rPr lang="zh-CN" altLang="en-US" sz="1000" b="1" dirty="0"/>
                  <a:t>的年化是“有希望”的，同时最大回撤通常会比死拿指数好看一些。</a:t>
                </a:r>
                <a:br>
                  <a:rPr lang="zh-CN" altLang="en-US" sz="1000" dirty="0"/>
                </a:br>
                <a:r>
                  <a:rPr lang="zh-CN" altLang="en-US" sz="1000" dirty="0"/>
                  <a:t>但这个结果要用严谨回测 </a:t>
                </a:r>
                <a:r>
                  <a:rPr lang="en-US" altLang="zh-CN" sz="1000" dirty="0"/>
                  <a:t>+ </a:t>
                </a:r>
                <a:r>
                  <a:rPr lang="zh-CN" altLang="en-US" sz="1000" dirty="0"/>
                  <a:t>真实小资金试跑来验证，而且未来可能会比历史差，这点必须接受。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5. </a:t>
                </a:r>
                <a:r>
                  <a:rPr lang="zh-CN" altLang="en-US" sz="1000" b="1" dirty="0"/>
                  <a:t>这个算法“量化”在哪里？</a:t>
                </a:r>
              </a:p>
              <a:p>
                <a:pPr>
                  <a:buNone/>
                </a:pPr>
                <a:r>
                  <a:rPr lang="zh-CN" altLang="en-US" sz="1000" dirty="0"/>
                  <a:t>它的量化要素：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决策完全由公式驱动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入场 </a:t>
                </a:r>
                <a:r>
                  <a:rPr lang="en-US" altLang="zh-CN" sz="1000" dirty="0"/>
                  <a:t>/ </a:t>
                </a:r>
                <a:r>
                  <a:rPr lang="zh-CN" altLang="en-US" sz="1000" dirty="0"/>
                  <a:t>出场只看：</a:t>
                </a:r>
                <a:r>
                  <a:rPr lang="zh-CN" altLang="en-US" sz="1000" dirty="0">
                    <a:latin typeface="Courier New" panose="02070309020205020404" pitchFamily="49" charset="0"/>
                  </a:rPr>
                  <a:t>收盘价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vs SMA200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没有“感觉好不好”“今天情绪如何”这种主观因素。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指标简单，便于回测和实现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任何语言（</a:t>
                </a:r>
                <a:r>
                  <a:rPr lang="en-US" altLang="zh-CN" sz="1000" dirty="0"/>
                  <a:t>Python</a:t>
                </a:r>
                <a:r>
                  <a:rPr lang="zh-CN" altLang="en-US" sz="1000" dirty="0"/>
                  <a:t>、</a:t>
                </a:r>
                <a:r>
                  <a:rPr lang="en-US" altLang="zh-CN" sz="1000" dirty="0"/>
                  <a:t>Pandas</a:t>
                </a:r>
                <a:r>
                  <a:rPr lang="zh-CN" altLang="en-US" sz="1000" dirty="0"/>
                  <a:t>）、任何量化平台，甚至 </a:t>
                </a:r>
                <a:r>
                  <a:rPr lang="en-US" altLang="zh-CN" sz="1000" dirty="0"/>
                  <a:t>Excel</a:t>
                </a:r>
                <a:r>
                  <a:rPr lang="zh-CN" altLang="en-US" sz="1000" dirty="0"/>
                  <a:t>，都能轻松写出来。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易于扩展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可以改成**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en-US" altLang="zh-CN" sz="1000" dirty="0"/>
                  <a:t>150 </a:t>
                </a:r>
                <a:r>
                  <a:rPr lang="zh-CN" altLang="en-US" sz="1000" dirty="0"/>
                  <a:t>日均线、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en-US" altLang="zh-CN" sz="1000" dirty="0"/>
                  <a:t>100 </a:t>
                </a:r>
                <a:r>
                  <a:rPr lang="zh-CN" altLang="en-US" sz="1000" dirty="0"/>
                  <a:t>日均线、</a:t>
                </a:r>
              </a:p>
              <a:p>
                <a:pPr marL="1143000" lvl="2" indent="-228600">
                  <a:buFont typeface="+mj-lt"/>
                  <a:buAutoNum type="arabicPeriod"/>
                </a:pPr>
                <a:r>
                  <a:rPr lang="zh-CN" altLang="en-US" sz="1000" dirty="0"/>
                  <a:t>双均线（比如 </a:t>
                </a:r>
                <a:r>
                  <a:rPr lang="en-US" altLang="zh-CN" sz="1000" dirty="0"/>
                  <a:t>50/200 </a:t>
                </a:r>
                <a:r>
                  <a:rPr lang="zh-CN" altLang="en-US" sz="1000" dirty="0"/>
                  <a:t>日金叉死叉）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可以增加多个指数，做一个</a:t>
                </a:r>
                <a:r>
                  <a:rPr lang="zh-CN" altLang="en-US" sz="1000" b="1" dirty="0"/>
                  <a:t>多资产轮动</a:t>
                </a:r>
                <a:r>
                  <a:rPr lang="zh-CN" altLang="en-US" sz="1000" dirty="0"/>
                  <a:t>版本。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6. </a:t>
                </a:r>
                <a:r>
                  <a:rPr lang="zh-CN" altLang="en-US" sz="1000" b="1" dirty="0"/>
                  <a:t>你可以如何实际动手做</a:t>
                </a:r>
              </a:p>
              <a:p>
                <a:pPr>
                  <a:buNone/>
                </a:pPr>
                <a:r>
                  <a:rPr lang="zh-CN" altLang="en-US" sz="1000" dirty="0"/>
                  <a:t>这里我说步骤，而不是代码（你如果愿意，下一步我可以帮你写 </a:t>
                </a:r>
                <a:r>
                  <a:rPr lang="en-US" altLang="zh-CN" sz="1000" dirty="0"/>
                  <a:t>Python / Excel </a:t>
                </a:r>
                <a:r>
                  <a:rPr lang="zh-CN" altLang="en-US" sz="1000" dirty="0"/>
                  <a:t>模板）。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6.1 </a:t>
                </a:r>
                <a:r>
                  <a:rPr lang="zh-CN" altLang="en-US" sz="1000" b="1" dirty="0"/>
                  <a:t>准备数据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下载你想做的指数基金 </a:t>
                </a:r>
                <a:r>
                  <a:rPr lang="en-US" altLang="zh-CN" sz="1000" dirty="0"/>
                  <a:t>/ ETF </a:t>
                </a:r>
                <a:r>
                  <a:rPr lang="zh-CN" altLang="en-US" sz="1000" dirty="0"/>
                  <a:t>的历史日线数据：</a:t>
                </a:r>
                <a:br>
                  <a:rPr lang="zh-CN" altLang="en-US" sz="1000" dirty="0"/>
                </a:br>
                <a:r>
                  <a:rPr lang="zh-CN" altLang="en-US" sz="1000" dirty="0"/>
                  <a:t>包含日期、收盘价、复权信息等。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时间越长越好：至少 </a:t>
                </a:r>
                <a:r>
                  <a:rPr lang="en-US" altLang="zh-CN" sz="1000" dirty="0"/>
                  <a:t>10 </a:t>
                </a:r>
                <a:r>
                  <a:rPr lang="zh-CN" altLang="en-US" sz="1000" dirty="0"/>
                  <a:t>年，更理想是 </a:t>
                </a:r>
                <a:r>
                  <a:rPr lang="en-US" altLang="zh-CN" sz="1000" dirty="0"/>
                  <a:t>20 </a:t>
                </a:r>
                <a:r>
                  <a:rPr lang="zh-CN" altLang="en-US" sz="1000" dirty="0"/>
                  <a:t>年。</a:t>
                </a:r>
              </a:p>
              <a:p>
                <a:pPr>
                  <a:buNone/>
                </a:pPr>
                <a:r>
                  <a:rPr lang="en-US" altLang="zh-CN" sz="1000" b="1" dirty="0"/>
                  <a:t>6.2 </a:t>
                </a:r>
                <a:r>
                  <a:rPr lang="zh-CN" altLang="en-US" sz="1000" b="1" dirty="0"/>
                  <a:t>做一个最原始的回测</a:t>
                </a:r>
              </a:p>
              <a:p>
                <a:pPr>
                  <a:buNone/>
                </a:pPr>
                <a:r>
                  <a:rPr lang="zh-CN" altLang="en-US" sz="1000" dirty="0"/>
                  <a:t>对每一天 </a:t>
                </a:r>
                <a:r>
                  <a:rPr lang="en-US" altLang="zh-CN" sz="1000" dirty="0"/>
                  <a:t>t</a:t>
                </a:r>
                <a:r>
                  <a:rPr lang="zh-CN" altLang="en-US" sz="1000" dirty="0"/>
                  <a:t>：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dirty="0"/>
                  <a:t>计算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SMA200(t)</a:t>
                </a:r>
                <a:endParaRPr lang="zh-CN" altLang="en-US" sz="1000" dirty="0"/>
              </a:p>
              <a:p>
                <a:pPr>
                  <a:buFont typeface="+mj-lt"/>
                  <a:buAutoNum type="arabicPeriod"/>
                </a:pPr>
                <a:r>
                  <a:rPr lang="zh-CN" altLang="en-US" sz="1000" dirty="0"/>
                  <a:t>判断：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若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Close(t) &gt; SMA200(t)</a:t>
                </a:r>
                <a:r>
                  <a:rPr lang="zh-CN" altLang="en-US" sz="1000" dirty="0"/>
                  <a:t> ⇒ 当天持有 </a:t>
                </a:r>
                <a:r>
                  <a:rPr lang="en-US" altLang="zh-CN" sz="1000" dirty="0"/>
                  <a:t>1 </a:t>
                </a:r>
                <a:r>
                  <a:rPr lang="zh-CN" altLang="en-US" sz="1000" dirty="0"/>
                  <a:t>单位指数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若 </a:t>
                </a:r>
                <a:r>
                  <a:rPr lang="en-US" altLang="zh-CN" sz="1000" dirty="0">
                    <a:latin typeface="Courier New" panose="02070309020205020404" pitchFamily="49" charset="0"/>
                  </a:rPr>
                  <a:t>Close(t) &lt; SMA200(t)</a:t>
                </a:r>
                <a:r>
                  <a:rPr lang="zh-CN" altLang="en-US" sz="1000" dirty="0"/>
                  <a:t> ⇒ 当天全部持有现金（收益为 </a:t>
                </a:r>
                <a:r>
                  <a:rPr lang="en-US" altLang="zh-CN" sz="1000" dirty="0"/>
                  <a:t>0 </a:t>
                </a:r>
                <a:r>
                  <a:rPr lang="zh-CN" altLang="en-US" sz="1000" dirty="0"/>
                  <a:t>或按货基利率）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dirty="0"/>
                  <a:t>计算每日收益，再连乘得到总曲线。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dirty="0"/>
                  <a:t>对比：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纯买入持有指数（一直 </a:t>
                </a:r>
                <a:r>
                  <a:rPr lang="en-US" altLang="zh-CN" sz="1000" dirty="0"/>
                  <a:t>100% </a:t>
                </a:r>
                <a:r>
                  <a:rPr lang="zh-CN" altLang="en-US" sz="1000" dirty="0"/>
                  <a:t>在场）；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你的策略曲线。</a:t>
                </a:r>
              </a:p>
              <a:p>
                <a:pPr>
                  <a:buNone/>
                </a:pPr>
                <a:r>
                  <a:rPr lang="zh-CN" altLang="en-US" sz="1000" dirty="0"/>
                  <a:t>重点看：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年化收益（</a:t>
                </a:r>
                <a:r>
                  <a:rPr lang="en-US" altLang="zh-CN" sz="1000" dirty="0"/>
                  <a:t>CAGR</a:t>
                </a:r>
                <a:r>
                  <a:rPr lang="zh-CN" altLang="en-US" sz="1000" dirty="0"/>
                  <a:t>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最大回撤（</a:t>
                </a:r>
                <a:r>
                  <a:rPr lang="en-US" altLang="zh-CN" sz="1000" dirty="0"/>
                  <a:t>Max Drawdown</a:t>
                </a:r>
                <a:r>
                  <a:rPr lang="zh-CN" altLang="en-US" sz="1000" dirty="0"/>
                  <a:t>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夏普比率 </a:t>
                </a:r>
                <a:r>
                  <a:rPr lang="en-US" altLang="zh-CN" sz="1000" dirty="0"/>
                  <a:t>/ </a:t>
                </a:r>
                <a:r>
                  <a:rPr lang="zh-CN" altLang="en-US" sz="1000" dirty="0"/>
                  <a:t>年化波动</a:t>
                </a:r>
              </a:p>
              <a:p>
                <a:pPr>
                  <a:buNone/>
                </a:pPr>
                <a:r>
                  <a:rPr lang="zh-CN" altLang="en-US" sz="1000" dirty="0"/>
                  <a:t>如果回测结果显示：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你的策略年化接近甚至略高于买入持有；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回撤明显比买入持有小；</a:t>
                </a:r>
              </a:p>
              <a:p>
                <a:pPr>
                  <a:buNone/>
                </a:pPr>
                <a:r>
                  <a:rPr lang="zh-CN" altLang="en-US" sz="1000" dirty="0"/>
                  <a:t>那这就是一个</a:t>
                </a:r>
                <a:r>
                  <a:rPr lang="zh-CN" altLang="en-US" sz="1000" b="1" dirty="0"/>
                  <a:t>更容易扛得住的</a:t>
                </a:r>
                <a:r>
                  <a:rPr lang="zh-CN" altLang="en-US" sz="1000" dirty="0"/>
                  <a:t>长期策略，哪怕未来做不到 </a:t>
                </a:r>
                <a:r>
                  <a:rPr lang="en-US" altLang="zh-CN" sz="1000" dirty="0"/>
                  <a:t>10%</a:t>
                </a:r>
                <a:r>
                  <a:rPr lang="zh-CN" altLang="en-US" sz="1000" dirty="0"/>
                  <a:t>，但可能也比你情绪化买卖更好。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7. </a:t>
                </a:r>
                <a:r>
                  <a:rPr lang="zh-CN" altLang="en-US" sz="1000" b="1" dirty="0"/>
                  <a:t>风险和坑，我必须提醒你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未来≠过去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历史上好用，不代表未来 </a:t>
                </a:r>
                <a:r>
                  <a:rPr lang="en-US" altLang="zh-CN" sz="1000" dirty="0"/>
                  <a:t>10 </a:t>
                </a:r>
                <a:r>
                  <a:rPr lang="zh-CN" altLang="en-US" sz="1000" dirty="0"/>
                  <a:t>年还好用；趋势策略也可能长时间失灵。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假突破和震荡市会持续消耗耐心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若某几年市场一直横着，你可能一直“被上下线来回晃”，收益远低于简单买入持有。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单一国家市场的风险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若你只做一个高波动、结构僵硬的市场（你懂的），那指数长期表现本身就可能不佳，“加过滤”也救不回整体收益。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执行纪律是最难的部分</a:t>
                </a:r>
                <a:endParaRPr lang="zh-CN" altLang="en-US" sz="1000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真正的难点不是算均线，而是：</a:t>
                </a:r>
                <a:r>
                  <a:rPr lang="zh-CN" altLang="en-US" sz="1000" b="1" dirty="0"/>
                  <a:t>跌破就真卖、站上就真买，不瞎操作、不删改规则。</a:t>
                </a:r>
                <a:endParaRPr lang="zh-CN" altLang="en-US" sz="1000" dirty="0"/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en-US" altLang="zh-CN" sz="1000" b="1" dirty="0"/>
                  <a:t>8. </a:t>
                </a:r>
                <a:r>
                  <a:rPr lang="zh-CN" altLang="en-US" sz="1000" b="1" dirty="0"/>
                  <a:t>如果你想把它进一步“打磨”成目标年化 </a:t>
                </a:r>
                <a:r>
                  <a:rPr lang="en-US" altLang="zh-CN" sz="1000" b="1" dirty="0"/>
                  <a:t>10% </a:t>
                </a:r>
                <a:r>
                  <a:rPr lang="zh-CN" altLang="en-US" sz="1000" b="1" dirty="0"/>
                  <a:t>的组合</a:t>
                </a:r>
              </a:p>
              <a:p>
                <a:pPr>
                  <a:buNone/>
                </a:pPr>
                <a:r>
                  <a:rPr lang="zh-CN" altLang="en-US" sz="1000" dirty="0"/>
                  <a:t>可以在这个基础上做两件事：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多资产版</a:t>
                </a:r>
                <a:r>
                  <a:rPr lang="zh-CN" altLang="en-US" sz="1000" dirty="0"/>
                  <a:t>：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除了本国大盘指数，再加：美股指数、发达国家股指、新兴市场股指、长期国债、黄金等；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每个资产都用类似均线过滤，然后按一定权重做组合，整体波动会更平滑，收益容易接近 </a:t>
                </a:r>
                <a:r>
                  <a:rPr lang="en-US" altLang="zh-CN" sz="1000" dirty="0"/>
                  <a:t>8–10%</a:t>
                </a:r>
                <a:r>
                  <a:rPr lang="zh-CN" altLang="en-US" sz="1000" dirty="0"/>
                  <a:t>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1000" b="1" dirty="0"/>
                  <a:t>轻微杠杆</a:t>
                </a:r>
                <a:r>
                  <a:rPr lang="zh-CN" altLang="en-US" sz="1000" dirty="0"/>
                  <a:t>（高级玩法，慎用）：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例如在一个波动适中、回测表现稳健的多资产组合上，加 </a:t>
                </a:r>
                <a:r>
                  <a:rPr lang="en-US" altLang="zh-CN" sz="1000" dirty="0"/>
                  <a:t>1.2–1.3 </a:t>
                </a:r>
                <a:r>
                  <a:rPr lang="zh-CN" altLang="en-US" sz="1000" dirty="0"/>
                  <a:t>倍轻杠杆，让预期年化从 </a:t>
                </a:r>
                <a:r>
                  <a:rPr lang="en-US" altLang="zh-CN" sz="1000" dirty="0"/>
                  <a:t>7–8% </a:t>
                </a:r>
                <a:r>
                  <a:rPr lang="zh-CN" altLang="en-US" sz="1000" dirty="0"/>
                  <a:t>提到 </a:t>
                </a:r>
                <a:r>
                  <a:rPr lang="en-US" altLang="zh-CN" sz="1000" dirty="0"/>
                  <a:t>9–11%</a:t>
                </a:r>
                <a:r>
                  <a:rPr lang="zh-CN" altLang="en-US" sz="1000" dirty="0"/>
                  <a:t>。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zh-CN" altLang="en-US" sz="1000" dirty="0"/>
                  <a:t>但这必须在你对风险有非常清醒认识之后再考虑。</a:t>
                </a:r>
              </a:p>
              <a:p>
                <a:pPr>
                  <a:buNone/>
                </a:pPr>
                <a:br>
                  <a:rPr lang="zh-CN" altLang="en-US" sz="1000" dirty="0"/>
                </a:br>
                <a:endParaRPr lang="zh-CN" altLang="en-US" sz="1000" dirty="0"/>
              </a:p>
              <a:p>
                <a:pPr>
                  <a:buNone/>
                </a:pPr>
                <a:r>
                  <a:rPr lang="zh-CN" altLang="en-US" sz="1000" dirty="0"/>
                  <a:t>如果你愿意，下一步我可以帮你：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用“某一个你指定的指数 </a:t>
                </a:r>
                <a:r>
                  <a:rPr lang="en-US" altLang="zh-CN" sz="1000" dirty="0"/>
                  <a:t>ETF”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写出一份 </a:t>
                </a:r>
                <a:r>
                  <a:rPr lang="zh-CN" altLang="en-US" sz="1000" b="1" dirty="0"/>
                  <a:t>完整的 </a:t>
                </a:r>
                <a:r>
                  <a:rPr lang="en-US" altLang="zh-CN" sz="1000" b="1" dirty="0"/>
                  <a:t>Python </a:t>
                </a:r>
                <a:r>
                  <a:rPr lang="zh-CN" altLang="en-US" sz="1000" b="1" dirty="0"/>
                  <a:t>回测脚本</a:t>
                </a:r>
                <a:r>
                  <a:rPr lang="zh-CN" altLang="en-US" sz="1000" dirty="0"/>
                  <a:t>（或 </a:t>
                </a:r>
                <a:r>
                  <a:rPr lang="en-US" altLang="zh-CN" sz="1000" dirty="0"/>
                  <a:t>Excel </a:t>
                </a:r>
                <a:r>
                  <a:rPr lang="zh-CN" altLang="en-US" sz="1000" dirty="0"/>
                  <a:t>公式），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1000" dirty="0"/>
                  <a:t>让你用真实历史数据看一眼：过去 </a:t>
                </a:r>
                <a:r>
                  <a:rPr lang="en-US" altLang="zh-CN" sz="1000" dirty="0"/>
                  <a:t>10–20 </a:t>
                </a:r>
                <a:r>
                  <a:rPr lang="zh-CN" altLang="en-US" sz="1000" dirty="0"/>
                  <a:t>年，这个简单策略在你的市场到底能达到多少年化、多少回撤，然后再谈要不要</a:t>
                </a:r>
                <a:endParaRPr lang="en-US" altLang="zh-CN" sz="1000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zh-CN" altLang="en-US" sz="1000" dirty="0"/>
                  <a:t>追求“年化 </a:t>
                </a:r>
                <a:r>
                  <a:rPr lang="en-US" altLang="zh-CN" sz="1000" dirty="0"/>
                  <a:t>10%”</a:t>
                </a:r>
                <a:r>
                  <a:rPr lang="zh-CN" altLang="en-US" sz="1000" dirty="0"/>
                  <a:t>。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2 </a:t>
                </a:r>
                <a:r>
                  <a:rPr lang="zh-CN" altLang="en-US" dirty="0"/>
                  <a:t>小学生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840A8-10F1-45DE-9990-29A08EF586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086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EBDB9-EAF4-97C1-ED7B-7A886B0EB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8450B3-D565-4CAD-00EC-214195CCF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AA2FE5-BE3D-AB34-0F5B-056AAE6E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9AB6-8C0A-4A8A-B5E0-F7FE70A729E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559AD4-7CA9-57E3-80DF-17B6CA28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AAE74E-DB38-8872-EF5F-3A8CB5FE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ABFD-FD28-4DF5-A911-60A459F29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72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08A74-1A24-8326-8208-7368FF9B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A2BB3E-5373-32C6-7598-D51EB4027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D9A767-0D52-3DDC-B88F-E73198403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9AB6-8C0A-4A8A-B5E0-F7FE70A729E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EF986C-6B21-332F-6927-A18A49542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E7DEC0-43D2-06E8-9A39-C50B00FE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ABFD-FD28-4DF5-A911-60A459F29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773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E5292-829A-BE14-7771-CED59D943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28A1BB-CE07-B260-C57A-523CF1241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5B3EA9-F4EF-E3A5-A34D-48CABC12E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9AB6-8C0A-4A8A-B5E0-F7FE70A729E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6C47E-E2DD-17A4-B9BF-8FE822BA8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8EE557-C769-6FC3-B480-7F9EA59A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ABFD-FD28-4DF5-A911-60A459F29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653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A30D6-70AA-8583-B30E-259F1E0C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06869C-6EBA-F3EB-2C58-599AC75DC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F14F77-B687-FAC7-537E-63AB4697B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530131-6EFA-35BB-B1E1-640B352C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9AB6-8C0A-4A8A-B5E0-F7FE70A729E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AEE52D-C79D-27BB-5DA2-788F108CF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BBAC0F-BAE8-EBE1-2E1F-09275D0A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ABFD-FD28-4DF5-A911-60A459F29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524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7732CB-4BA1-8BD4-5B60-4D11EB3DF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576991-819A-5330-2913-4ABB1F3CC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A5B1F1-332C-6DD9-6126-0522F9EF2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21407F-50BB-CB45-C931-1DC6708C1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DEA9A9-BA17-18AB-7192-4820F0D3C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839F38-A400-E42A-1404-DCE575556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9AB6-8C0A-4A8A-B5E0-F7FE70A729E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D65A40-7D87-3830-F409-90E56EC47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CF8D52-BC64-D2D2-DCE9-5D06C8E0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ABFD-FD28-4DF5-A911-60A459F29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45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FCADF-3D50-7A84-922D-FCA810BD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5B7E91-2307-E632-3A91-F6A684B67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9AB6-8C0A-4A8A-B5E0-F7FE70A729E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6E5F0D-2417-16FE-F7DC-7DC465E9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7DF4BB-7160-588F-5AB6-177A005A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ABFD-FD28-4DF5-A911-60A459F29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68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61841D-0C44-E9CF-6D14-DE87272B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9AB6-8C0A-4A8A-B5E0-F7FE70A729E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50759E-8A95-F29D-6D4D-9B5D51324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C99F62-9DB5-8921-2919-C7DB5157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ABFD-FD28-4DF5-A911-60A459F29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331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43A9F-1EBD-DA9A-8B3A-AEAB1751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228B1-EF81-52AC-513C-C6B198115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2318F7-C5F5-CB93-C631-A4ABF569F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17AF96-58DA-D1E9-0E2C-08BCC5DD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9AB6-8C0A-4A8A-B5E0-F7FE70A729E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CED2E2-02C6-1CDA-3660-A3675AAF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1975D1-EA66-B1BA-73E7-7AEFA15DF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ABFD-FD28-4DF5-A911-60A459F29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449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ABE9E-3497-05C4-E416-47F4C904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DD700CF-2518-2E0D-B594-97F43278E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D0F650-8D0E-0B75-6A0E-31E674C2F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2F4C55-DDC4-6C29-5009-FD39B1C72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9AB6-8C0A-4A8A-B5E0-F7FE70A729E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9192D2-FEF3-BAD4-8866-4B51D1A29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3B34CF-97D2-D6C0-F4B9-1B033603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ABFD-FD28-4DF5-A911-60A459F29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77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40EC0-88D6-2DE2-A784-1850CEDF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414447-8BD5-516F-6D75-CBF8285AD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D18F1-39ED-A37A-0FD1-E638663F1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9AB6-8C0A-4A8A-B5E0-F7FE70A729E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5F331C-40E8-05A2-FC14-0DAD9ECD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C0347D-4F2D-CC4B-CA64-E41006590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ABFD-FD28-4DF5-A911-60A459F29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14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EF3E16-502F-82E7-9CE7-31665B13A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367B01-4712-F991-CE3D-3A0EC364C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CAD2E4-C85D-3C88-567D-32157B793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9AB6-8C0A-4A8A-B5E0-F7FE70A729E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CCAD87-9931-5258-1137-2A3AA73D0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081B6-E411-8227-6013-5C10BE52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ABFD-FD28-4DF5-A911-60A459F29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2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C13D82-2EC3-A998-F67F-9F52460A5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534B43-D050-1F51-5E4E-FA848668A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BC8224-22E2-607E-9FAA-91A84ACE8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F9AB6-8C0A-4A8A-B5E0-F7FE70A729E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1B48D-EF11-02FB-4A51-1F7502F4D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3A59D-95E9-E7D3-E451-5BD401235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FABFD-FD28-4DF5-A911-60A459F29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004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23957-A0E5-5A78-0354-E11F3645BF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产品</a:t>
            </a:r>
            <a:r>
              <a:rPr lang="en-US" altLang="zh-CN" dirty="0"/>
              <a:t>UI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ED3FDA-C0FD-CEB5-5C6E-0D3A891357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5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D24BF-89D0-F660-A90A-9452650B3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马斯克 </a:t>
            </a:r>
            <a:r>
              <a:rPr lang="en-US" altLang="zh-CN" dirty="0"/>
              <a:t>– </a:t>
            </a:r>
            <a:r>
              <a:rPr lang="zh-CN" altLang="en-US" dirty="0"/>
              <a:t>黄仁勋 </a:t>
            </a:r>
            <a:r>
              <a:rPr lang="en-US" altLang="zh-CN" dirty="0"/>
              <a:t>–</a:t>
            </a:r>
            <a:r>
              <a:rPr lang="zh-CN" altLang="en-US" dirty="0"/>
              <a:t> 多角度理解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CA6498-4371-CE8A-40C7-BC304E7E1764}"/>
              </a:ext>
            </a:extLst>
          </p:cNvPr>
          <p:cNvSpPr/>
          <p:nvPr/>
        </p:nvSpPr>
        <p:spPr>
          <a:xfrm>
            <a:off x="1957952" y="5074818"/>
            <a:ext cx="4246535" cy="759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请输入你的问题。。。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A53A55-1599-75A6-83E7-D01C151357BD}"/>
              </a:ext>
            </a:extLst>
          </p:cNvPr>
          <p:cNvSpPr/>
          <p:nvPr/>
        </p:nvSpPr>
        <p:spPr>
          <a:xfrm>
            <a:off x="9092662" y="5957805"/>
            <a:ext cx="2976965" cy="7594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黄仁勋的“从浅到深”学习器</a:t>
            </a:r>
            <a:r>
              <a:rPr lang="zh-CN" altLang="en-US" dirty="0"/>
              <a:t>请输入你的问题。。。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931970-0FFA-1645-0371-32CC30216C36}"/>
              </a:ext>
            </a:extLst>
          </p:cNvPr>
          <p:cNvSpPr/>
          <p:nvPr/>
        </p:nvSpPr>
        <p:spPr>
          <a:xfrm>
            <a:off x="6496372" y="5091290"/>
            <a:ext cx="1454259" cy="759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回答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64B983-9BCC-746C-CE56-966CF1C1F1FE}"/>
              </a:ext>
            </a:extLst>
          </p:cNvPr>
          <p:cNvSpPr txBox="1"/>
          <p:nvPr/>
        </p:nvSpPr>
        <p:spPr>
          <a:xfrm>
            <a:off x="1960533" y="1620586"/>
            <a:ext cx="424395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先把话说在前面：</a:t>
            </a:r>
            <a:br>
              <a:rPr lang="zh-CN" altLang="en-US" sz="1600" dirty="0"/>
            </a:br>
            <a:r>
              <a:rPr lang="zh-CN" altLang="en-US" sz="1600" dirty="0"/>
              <a:t>不存在任何“保证稳定年化 </a:t>
            </a:r>
            <a:r>
              <a:rPr lang="en-US" altLang="zh-CN" sz="1600" dirty="0"/>
              <a:t>10%”</a:t>
            </a:r>
            <a:r>
              <a:rPr lang="zh-CN" altLang="en-US" sz="1600" dirty="0"/>
              <a:t>的算法。</a:t>
            </a:r>
            <a:br>
              <a:rPr lang="zh-CN" altLang="en-US" sz="1600" dirty="0"/>
            </a:br>
            <a:r>
              <a:rPr lang="zh-CN" altLang="en-US" sz="1600" dirty="0"/>
              <a:t>我能做的是：给你一个逻辑简单、可量化、历史上有不错表现、目标年化在 </a:t>
            </a:r>
            <a:r>
              <a:rPr lang="en-US" altLang="zh-CN" sz="1600" dirty="0"/>
              <a:t>8–12% </a:t>
            </a:r>
            <a:r>
              <a:rPr lang="zh-CN" altLang="en-US" sz="1600" dirty="0"/>
              <a:t>区间的思路，你自己用回测和小资金去验证，而不是直接 </a:t>
            </a:r>
            <a:r>
              <a:rPr lang="en-US" altLang="zh-CN" sz="1600" dirty="0"/>
              <a:t>All in</a:t>
            </a:r>
            <a:r>
              <a:rPr lang="zh-CN" altLang="en-US" sz="1600" dirty="0"/>
              <a:t>。 下面我给你介绍一套： “大盘指数 </a:t>
            </a:r>
            <a:r>
              <a:rPr lang="en-US" altLang="zh-CN" sz="1600" dirty="0"/>
              <a:t>+ </a:t>
            </a:r>
            <a:r>
              <a:rPr lang="zh-CN" altLang="en-US" sz="1600" dirty="0"/>
              <a:t>均线趋势过滤” 的机械策略</a:t>
            </a:r>
            <a:br>
              <a:rPr lang="zh-CN" altLang="en-US" sz="1600" dirty="0"/>
            </a:br>
            <a:r>
              <a:rPr lang="en-US" altLang="zh-CN" sz="1600" dirty="0"/>
              <a:t>——</a:t>
            </a:r>
            <a:r>
              <a:rPr lang="zh-CN" altLang="en-US" sz="1600" dirty="0"/>
              <a:t>只用一个品种、一条均线、一套非常好理解的规则。 </a:t>
            </a:r>
            <a:br>
              <a:rPr lang="zh-CN" altLang="en-US" sz="1600" dirty="0"/>
            </a:br>
            <a:r>
              <a:rPr lang="en-US" altLang="zh-CN" sz="1600" dirty="0"/>
              <a:t>1. </a:t>
            </a:r>
            <a:r>
              <a:rPr lang="zh-CN" altLang="en-US" sz="1600" dirty="0"/>
              <a:t>思路用一句话说清楚 只做一个宽基指数：比如你所在市场的“全市场</a:t>
            </a:r>
            <a:r>
              <a:rPr lang="en-US" altLang="zh-CN" sz="1600" dirty="0"/>
              <a:t>/</a:t>
            </a:r>
            <a:r>
              <a:rPr lang="zh-CN" altLang="en-US" sz="1600" dirty="0"/>
              <a:t>大盘指数基金或 </a:t>
            </a:r>
            <a:r>
              <a:rPr lang="en-US" altLang="zh-CN" sz="1600" dirty="0"/>
              <a:t>ETF”</a:t>
            </a:r>
            <a:r>
              <a:rPr lang="zh-CN" altLang="en-US" sz="1600" dirty="0"/>
              <a:t>，代表整个股市。</a:t>
            </a:r>
            <a:r>
              <a:rPr lang="en-US" altLang="zh-CN" sz="1600" dirty="0"/>
              <a:t>	</a:t>
            </a:r>
          </a:p>
          <a:p>
            <a:r>
              <a:rPr lang="zh-CN" altLang="en-US" sz="1600" dirty="0"/>
              <a:t>。。。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A784E1-9E5C-13C2-EF51-3C0BFEFC40FE}"/>
              </a:ext>
            </a:extLst>
          </p:cNvPr>
          <p:cNvSpPr/>
          <p:nvPr/>
        </p:nvSpPr>
        <p:spPr>
          <a:xfrm>
            <a:off x="6512514" y="1865280"/>
            <a:ext cx="1454259" cy="2873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普通人版</a:t>
            </a:r>
            <a:endParaRPr lang="en-US" altLang="zh-CN" sz="1400" b="1" dirty="0"/>
          </a:p>
          <a:p>
            <a:pPr algn="ctr"/>
            <a:endParaRPr lang="en-US" altLang="zh-CN" sz="1400" dirty="0"/>
          </a:p>
          <a:p>
            <a:pPr algn="ctr"/>
            <a:r>
              <a:rPr lang="zh-CN" altLang="en-US" sz="1400" dirty="0">
                <a:solidFill>
                  <a:schemeClr val="accent6"/>
                </a:solidFill>
              </a:rPr>
              <a:t>小学生版</a:t>
            </a:r>
            <a:endParaRPr lang="en-US" altLang="zh-CN" sz="1400" dirty="0">
              <a:solidFill>
                <a:schemeClr val="accent6"/>
              </a:solidFill>
            </a:endParaRPr>
          </a:p>
          <a:p>
            <a:pPr algn="ctr"/>
            <a:endParaRPr lang="en-US" altLang="zh-CN" sz="1400" dirty="0"/>
          </a:p>
          <a:p>
            <a:pPr algn="ctr"/>
            <a:r>
              <a:rPr lang="zh-CN" altLang="en-US" sz="1400" dirty="0">
                <a:solidFill>
                  <a:schemeClr val="accent6"/>
                </a:solidFill>
              </a:rPr>
              <a:t>中学生版</a:t>
            </a:r>
            <a:endParaRPr lang="en-US" altLang="zh-CN" sz="1400" dirty="0">
              <a:solidFill>
                <a:schemeClr val="accent6"/>
              </a:solidFill>
            </a:endParaRPr>
          </a:p>
          <a:p>
            <a:pPr algn="ctr"/>
            <a:endParaRPr lang="en-US" altLang="zh-CN" sz="1400" dirty="0"/>
          </a:p>
          <a:p>
            <a:pPr algn="ctr"/>
            <a:r>
              <a:rPr lang="zh-CN" altLang="en-US" sz="1400" dirty="0">
                <a:solidFill>
                  <a:schemeClr val="bg2">
                    <a:lumMod val="75000"/>
                  </a:schemeClr>
                </a:solidFill>
              </a:rPr>
              <a:t>大学生版</a:t>
            </a:r>
            <a:endParaRPr lang="en-US" altLang="zh-CN" sz="14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2">
                    <a:lumMod val="75000"/>
                  </a:schemeClr>
                </a:solidFill>
              </a:rPr>
              <a:t>博士生版</a:t>
            </a:r>
            <a:endParaRPr lang="en-US" altLang="zh-CN" sz="14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2">
                    <a:lumMod val="75000"/>
                  </a:schemeClr>
                </a:solidFill>
              </a:rPr>
              <a:t>教授版</a:t>
            </a:r>
            <a:endParaRPr lang="en-US" altLang="zh-CN" sz="14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66933B-5FFE-C4F4-0450-1316CA08F0DA}"/>
              </a:ext>
            </a:extLst>
          </p:cNvPr>
          <p:cNvSpPr/>
          <p:nvPr/>
        </p:nvSpPr>
        <p:spPr>
          <a:xfrm flipH="1">
            <a:off x="6206099" y="1459563"/>
            <a:ext cx="152401" cy="3293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</a:t>
            </a:r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V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40B5AB-6F70-ED1C-7BE5-F28C065013A6}"/>
              </a:ext>
            </a:extLst>
          </p:cNvPr>
          <p:cNvSpPr/>
          <p:nvPr/>
        </p:nvSpPr>
        <p:spPr>
          <a:xfrm>
            <a:off x="2869122" y="4621419"/>
            <a:ext cx="1212097" cy="3728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没看懂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31DA34-2241-4AA5-AB6E-9602749F73BE}"/>
              </a:ext>
            </a:extLst>
          </p:cNvPr>
          <p:cNvSpPr/>
          <p:nvPr/>
        </p:nvSpPr>
        <p:spPr>
          <a:xfrm>
            <a:off x="4827881" y="4590788"/>
            <a:ext cx="1212097" cy="3728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太简单了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14624C-5214-2ABB-1701-6DB9ED00F579}"/>
              </a:ext>
            </a:extLst>
          </p:cNvPr>
          <p:cNvSpPr/>
          <p:nvPr/>
        </p:nvSpPr>
        <p:spPr>
          <a:xfrm>
            <a:off x="111070" y="1620586"/>
            <a:ext cx="1454259" cy="47027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251125_MBTI</a:t>
            </a:r>
            <a:r>
              <a:rPr lang="zh-CN" altLang="en-US" sz="1400" b="1" dirty="0"/>
              <a:t>理解</a:t>
            </a:r>
            <a:endParaRPr lang="en-US" altLang="zh-CN" sz="1400" b="1" dirty="0"/>
          </a:p>
          <a:p>
            <a:pPr algn="ctr"/>
            <a:endParaRPr lang="en-US" altLang="zh-CN" sz="1400" b="1" dirty="0"/>
          </a:p>
          <a:p>
            <a:pPr algn="ctr"/>
            <a:r>
              <a:rPr lang="en-US" altLang="zh-CN" sz="1400" b="1" dirty="0"/>
              <a:t>251126 </a:t>
            </a:r>
            <a:r>
              <a:rPr lang="zh-CN" altLang="en-US" sz="1400" b="1" dirty="0"/>
              <a:t>量化交易</a:t>
            </a:r>
            <a:endParaRPr lang="en-US" altLang="zh-CN" sz="1400" b="1" dirty="0"/>
          </a:p>
          <a:p>
            <a:pPr algn="ctr"/>
            <a:endParaRPr lang="en-US" altLang="zh-CN" sz="1400" b="1" dirty="0"/>
          </a:p>
          <a:p>
            <a:pPr algn="ctr"/>
            <a:endParaRPr lang="en-US" altLang="zh-CN" sz="1400" dirty="0"/>
          </a:p>
          <a:p>
            <a:pPr algn="ctr"/>
            <a:r>
              <a:rPr lang="en-US" altLang="zh-CN" sz="1400" b="1" dirty="0"/>
              <a:t>251125_MBTI</a:t>
            </a:r>
            <a:r>
              <a:rPr lang="zh-CN" altLang="en-US" sz="1400" b="1" dirty="0"/>
              <a:t>理解</a:t>
            </a:r>
            <a:endParaRPr lang="en-US" altLang="zh-CN" sz="1400" b="1" dirty="0"/>
          </a:p>
          <a:p>
            <a:pPr algn="ctr"/>
            <a:endParaRPr lang="en-US" altLang="zh-CN" sz="1400" b="1" dirty="0"/>
          </a:p>
          <a:p>
            <a:pPr algn="ctr"/>
            <a:r>
              <a:rPr lang="en-US" altLang="zh-CN" sz="1400" b="1" dirty="0"/>
              <a:t>251126 </a:t>
            </a:r>
            <a:r>
              <a:rPr lang="zh-CN" altLang="en-US" sz="1400" b="1" dirty="0"/>
              <a:t>量化交易</a:t>
            </a:r>
            <a:endParaRPr lang="en-US" altLang="zh-CN" sz="1400" b="1" dirty="0"/>
          </a:p>
          <a:p>
            <a:pPr algn="ctr"/>
            <a:endParaRPr lang="en-US" altLang="zh-CN" sz="1400" b="1" dirty="0"/>
          </a:p>
          <a:p>
            <a:pPr algn="ctr"/>
            <a:endParaRPr lang="en-US" altLang="zh-CN" sz="1400" dirty="0"/>
          </a:p>
          <a:p>
            <a:pPr algn="ctr"/>
            <a:r>
              <a:rPr lang="en-US" altLang="zh-CN" sz="1400" b="1" dirty="0"/>
              <a:t>251125_MBTI</a:t>
            </a:r>
            <a:r>
              <a:rPr lang="zh-CN" altLang="en-US" sz="1400" b="1" dirty="0"/>
              <a:t>理解</a:t>
            </a:r>
            <a:endParaRPr lang="en-US" altLang="zh-CN" sz="1400" b="1" dirty="0"/>
          </a:p>
          <a:p>
            <a:pPr algn="ctr"/>
            <a:endParaRPr lang="en-US" altLang="zh-CN" sz="1400" b="1" dirty="0"/>
          </a:p>
          <a:p>
            <a:pPr algn="ctr"/>
            <a:r>
              <a:rPr lang="en-US" altLang="zh-CN" sz="1400" b="1" dirty="0"/>
              <a:t>251126 </a:t>
            </a:r>
            <a:r>
              <a:rPr lang="zh-CN" altLang="en-US" sz="1400" b="1" dirty="0"/>
              <a:t>量化交易</a:t>
            </a:r>
            <a:endParaRPr lang="en-US" altLang="zh-CN" sz="1400" b="1" dirty="0"/>
          </a:p>
          <a:p>
            <a:pPr algn="ctr"/>
            <a:endParaRPr lang="en-US" altLang="zh-CN" sz="1400" b="1" dirty="0"/>
          </a:p>
          <a:p>
            <a:pPr algn="ctr"/>
            <a:endParaRPr lang="en-US" altLang="zh-CN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05812DC-C797-CB62-210F-B2F882101990}"/>
              </a:ext>
            </a:extLst>
          </p:cNvPr>
          <p:cNvSpPr txBox="1"/>
          <p:nvPr/>
        </p:nvSpPr>
        <p:spPr>
          <a:xfrm>
            <a:off x="1957952" y="1308232"/>
            <a:ext cx="205934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小学生版 </a:t>
            </a:r>
            <a:r>
              <a:rPr lang="en-US" altLang="zh-CN" sz="1600" dirty="0"/>
              <a:t>+ 1</a:t>
            </a:r>
            <a:r>
              <a:rPr lang="zh-CN" altLang="en-US" sz="1600" dirty="0"/>
              <a:t>难度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DBAAEA-3E97-DAC0-21CF-0A915192AE22}"/>
              </a:ext>
            </a:extLst>
          </p:cNvPr>
          <p:cNvSpPr/>
          <p:nvPr/>
        </p:nvSpPr>
        <p:spPr>
          <a:xfrm>
            <a:off x="1957952" y="5945377"/>
            <a:ext cx="1839133" cy="607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 </a:t>
            </a:r>
            <a:r>
              <a:rPr lang="zh-CN" altLang="en-US" dirty="0"/>
              <a:t>我想提问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B6755E-856E-40C8-F1DD-2FA9A1CB1670}"/>
              </a:ext>
            </a:extLst>
          </p:cNvPr>
          <p:cNvSpPr/>
          <p:nvPr/>
        </p:nvSpPr>
        <p:spPr>
          <a:xfrm>
            <a:off x="3947708" y="5945376"/>
            <a:ext cx="2256779" cy="607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 </a:t>
            </a:r>
            <a:r>
              <a:rPr lang="zh-CN" altLang="en-US" dirty="0"/>
              <a:t>我不理解</a:t>
            </a:r>
          </a:p>
        </p:txBody>
      </p:sp>
    </p:spTree>
    <p:extLst>
      <p:ext uri="{BB962C8B-B14F-4D97-AF65-F5344CB8AC3E}">
        <p14:creationId xmlns:p14="http://schemas.microsoft.com/office/powerpoint/2010/main" val="1055654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B5C28-44A4-7E73-BC7C-E617E395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马斯克 </a:t>
            </a:r>
            <a:r>
              <a:rPr lang="en-US" altLang="zh-CN" dirty="0"/>
              <a:t>– </a:t>
            </a:r>
            <a:r>
              <a:rPr lang="zh-CN" altLang="en-US" dirty="0"/>
              <a:t>黄仁勋 </a:t>
            </a:r>
            <a:r>
              <a:rPr lang="en-US" altLang="zh-CN" dirty="0"/>
              <a:t>– </a:t>
            </a:r>
            <a:r>
              <a:rPr lang="zh-CN" altLang="en-US" dirty="0"/>
              <a:t>中学小学提问器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BBA9A4-C00A-88FC-A3B5-DC230F1D9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268" y="1690688"/>
            <a:ext cx="3857786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请介绍一种可以稳定年盈利</a:t>
            </a:r>
            <a:r>
              <a:rPr lang="en-US" altLang="zh-CN" dirty="0"/>
              <a:t>10%</a:t>
            </a:r>
            <a:r>
              <a:rPr lang="zh-CN" altLang="en-US" dirty="0"/>
              <a:t>的、容易理解的量化交易算法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511B4A-169A-F10E-3BF5-1EC52BA4286F}"/>
              </a:ext>
            </a:extLst>
          </p:cNvPr>
          <p:cNvSpPr txBox="1"/>
          <p:nvPr/>
        </p:nvSpPr>
        <p:spPr>
          <a:xfrm>
            <a:off x="3233980" y="3016251"/>
            <a:ext cx="16621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刚才的回答，请用小学生可以理解的方式复述一遍。 </a:t>
            </a:r>
          </a:p>
        </p:txBody>
      </p:sp>
    </p:spTree>
    <p:extLst>
      <p:ext uri="{BB962C8B-B14F-4D97-AF65-F5344CB8AC3E}">
        <p14:creationId xmlns:p14="http://schemas.microsoft.com/office/powerpoint/2010/main" val="3665201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50F35-F290-4AA7-D3E9-7340B25F4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8CB338-8AA4-5214-A1EB-940FE52F4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290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CD926-802C-45CE-C7B9-C6B1DB410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四圣谛五毒等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705E6B66-A2AA-7D6F-A0C1-A79210B906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113385"/>
              </p:ext>
            </p:extLst>
          </p:nvPr>
        </p:nvGraphicFramePr>
        <p:xfrm>
          <a:off x="838200" y="1825625"/>
          <a:ext cx="105156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425679886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8991241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8302390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1961818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302035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26201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具体事件的描述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主归类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副归类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认知行为建议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行动建议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73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407365"/>
                  </a:ext>
                </a:extLst>
              </a:tr>
            </a:tbl>
          </a:graphicData>
        </a:graphic>
      </p:graphicFrame>
      <p:graphicFrame>
        <p:nvGraphicFramePr>
          <p:cNvPr id="5" name="内容占位符 3">
            <a:extLst>
              <a:ext uri="{FF2B5EF4-FFF2-40B4-BE49-F238E27FC236}">
                <a16:creationId xmlns:a16="http://schemas.microsoft.com/office/drawing/2014/main" id="{B78E9C73-AB95-59D3-A53C-A27E008F55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8886872"/>
              </p:ext>
            </p:extLst>
          </p:nvPr>
        </p:nvGraphicFramePr>
        <p:xfrm>
          <a:off x="960895" y="3279883"/>
          <a:ext cx="49131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480">
                  <a:extLst>
                    <a:ext uri="{9D8B030D-6E8A-4147-A177-3AD203B41FA5}">
                      <a16:colId xmlns:a16="http://schemas.microsoft.com/office/drawing/2014/main" val="4256798860"/>
                    </a:ext>
                  </a:extLst>
                </a:gridCol>
                <a:gridCol w="1007175">
                  <a:extLst>
                    <a:ext uri="{9D8B030D-6E8A-4147-A177-3AD203B41FA5}">
                      <a16:colId xmlns:a16="http://schemas.microsoft.com/office/drawing/2014/main" val="3989912414"/>
                    </a:ext>
                  </a:extLst>
                </a:gridCol>
                <a:gridCol w="1007175">
                  <a:extLst>
                    <a:ext uri="{9D8B030D-6E8A-4147-A177-3AD203B41FA5}">
                      <a16:colId xmlns:a16="http://schemas.microsoft.com/office/drawing/2014/main" val="1283023909"/>
                    </a:ext>
                  </a:extLst>
                </a:gridCol>
                <a:gridCol w="1007175">
                  <a:extLst>
                    <a:ext uri="{9D8B030D-6E8A-4147-A177-3AD203B41FA5}">
                      <a16:colId xmlns:a16="http://schemas.microsoft.com/office/drawing/2014/main" val="2330203584"/>
                    </a:ext>
                  </a:extLst>
                </a:gridCol>
                <a:gridCol w="1007175">
                  <a:extLst>
                    <a:ext uri="{9D8B030D-6E8A-4147-A177-3AD203B41FA5}">
                      <a16:colId xmlns:a16="http://schemas.microsoft.com/office/drawing/2014/main" val="2626201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贪数量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嗔数量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痴数量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73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407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4705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2173</Words>
  <Application>Microsoft Office PowerPoint</Application>
  <PresentationFormat>宽屏</PresentationFormat>
  <Paragraphs>207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Courier New</vt:lpstr>
      <vt:lpstr>Office 主题​​</vt:lpstr>
      <vt:lpstr>产品UI </vt:lpstr>
      <vt:lpstr>马斯克 – 黄仁勋 – 多角度理解</vt:lpstr>
      <vt:lpstr>马斯克 – 黄仁勋 – 中学小学提问器</vt:lpstr>
      <vt:lpstr>PowerPoint 演示文稿</vt:lpstr>
      <vt:lpstr>四圣谛五毒等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Yunong Tian</dc:creator>
  <cp:lastModifiedBy>Yunong Tian</cp:lastModifiedBy>
  <cp:revision>23</cp:revision>
  <dcterms:created xsi:type="dcterms:W3CDTF">2025-11-25T01:07:18Z</dcterms:created>
  <dcterms:modified xsi:type="dcterms:W3CDTF">2025-11-25T02:04:37Z</dcterms:modified>
</cp:coreProperties>
</file>