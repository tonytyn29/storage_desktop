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62" r:id="rId5"/>
    <p:sldId id="259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611" autoAdjust="0"/>
  </p:normalViewPr>
  <p:slideViewPr>
    <p:cSldViewPr snapToGrid="0">
      <p:cViewPr varScale="1">
        <p:scale>
          <a:sx n="80" d="100"/>
          <a:sy n="80" d="100"/>
        </p:scale>
        <p:origin x="17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484C5-CB90-4703-B7E1-12414872580F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CEE57-9D87-49F5-96C4-A516E5A644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206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CEE57-9D87-49F5-96C4-A516E5A6447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862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CEE57-9D87-49F5-96C4-A516E5A6447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331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看到您列出的这些焦虑点，我能深切地感受到您正承受着巨大的压力，内心充满了矛盾和不安。这种同时被外部社会压力和内部自我期望拉扯的感觉，确实非常消耗心力。请相信，您不是一个人在面对这些，而且主动寻求应对方法，这本身就是非常勇敢和积极的一步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您提到的焦虑涵盖了社交、年龄、时间、职业、道德感等多个层面，它们看似独立，但往往相互关联。我们可以尝试将它们梳理一下，并找到一些切实可行的应对策略。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第一步：接纳与正常化焦虑情绪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，重要的是要知道，焦虑并不全是坏事。它是我们面对压力时的正常反应，是身体在提醒我们：“有些事情需要关注了。”它的出现是为了保护我们。因此，我们的目标不是“消灭”焦虑，而是学会与它共处，让它回归到一个合理的水平，不至于影响我们的生活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第二步：拆解焦虑，各个击破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您已经很好地列出了焦虑的来源，现在我们可以把它们分分类，并针对每一类寻找思路。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关于社交与自我认同的焦虑（参加婚礼、年龄增大、自绝于社会、厌恶人类）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这类焦虑的核心可能在于：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“我是否符合社会标准？”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与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“我是否想符合这些标准？”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之间的冲突。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具体行动：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调整参加婚礼的心态：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将目标从“被所有人认可”调整为“见到一两个能聊得来的朋友”或“单纯去祝福新人”。提前准备一些轻松的话题，允许自己中途需要独处时，可以短暂离开（比如去洗手间或室外透透气）。降低期待，压力会小很多。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重新定义“年龄”：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年龄增长也带来了经验、智慧和更清晰的自我认知。可以列出一些随着年龄增长您才获得的好处，比如更稳定的收入、更成熟的判断力等。年龄不是倒计时，而是您个人故事的积累。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审视“社会”与“自我”的边界：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“自绝于社会”和“厌恶人类”是强烈的表达，背后可能是对虚伪、复杂人际关系的失望。可以尝试：</a:t>
            </a:r>
          </a:p>
          <a:p>
            <a:pPr lvl="2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选择性社交：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不必强迫自己融入所有圈子。寻找那些价值观相似、能让您感到舒适的“小群体”，哪怕只有一两个人。质量远胜于数量。</a:t>
            </a:r>
          </a:p>
          <a:p>
            <a:pPr lvl="2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区分“人类群体”与“具体个人”：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我们可能会对群体的某些行为感到失望，但仍可以欣赏和关爱具体的、善良的个体。把注意力放在这些具体的、积极的关系上。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关于时间与成就的焦虑（事情很多时间太少、娱乐爱好不足、项目进展不够）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这类焦虑的核心是：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“有限资源（时间）”，与“无限欲望（成就、娱乐）”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之间的矛盾。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具体行动：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时间块管理法：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停止空泛地焦虑“时间少”，而是开始规划。拿出日历，以“小时”为单位，提前规划未来几天的时间。</a:t>
            </a:r>
          </a:p>
          <a:p>
            <a:pPr lvl="2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优先安排“休息和娱乐”：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这不是浪费时间，而是维持高效的基础。像安排重要会议一样，把您的爱好时间（比如每周二晚上看电影、周六下午运动）固定下来。</a:t>
            </a:r>
          </a:p>
          <a:p>
            <a:pPr lvl="2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任务分解与优先级排序：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将“编程项目”、“灰产”等大任务分解成一个个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15-30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分钟可以完成的小步骤。使用“四象限法则”（重要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紧急）来排序，每天只专注于完成最重要的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件小事。完成小目标的成就感能有效缓解焦虑。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践行“要事第一”：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每天开始工作前，问自己：“今天做完哪一件事，我就会觉得今天是充实、有进步的？” 完成它，然后再处理其他事务。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关于欲望与代价的焦虑（性满足与社会代价）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这类焦虑涉及个人需求与社会规范的深层冲突，最为复杂。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具体思考方向：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澄清价值观：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在安全、合法、不伤害他人的前提下，花些时间思考：对您而言，什么更重要？是遵循社会常规以获得安宁，还是探索自我需求即使面临非议？没有标准答案，答案只在您心中。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评估“代价”的真实性：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您所焦虑的“社会代价”是必然发生的，还是想象中的最坏情况？是否有更理性、更折中的方式来处理这种需求，将代价降到最低？如果这个问题对您造成极大困扰，寻求专业的心理咨询师的帮助，提供一个保密、非评判的环境来探讨，会是安全且有效的选择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关于“灰产”与道德感的焦虑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这一点需要您特别警惕。虽然它能用时间换钱，但这种不确定性本身就是一个巨大的压力源，可能与您“厌恶人类”、“自绝于社会”的感受形成恶性循环。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具体思考方向：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风险评估：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冷静评估其潜在的法律和道德风险。长期来看，这种焦虑和风险是否会侵蚀您的内心平静？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寻找“白产”替代方案：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能否将您在这份“灰产”中运用的技能（如编程、市场洞察力等），逐步转移到合法、阳光的项目或兼职上？这可能需要时间，但换来的是长久的内心安宁。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第三步：建立长期的身心防护体系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基础健康管理：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保证规律作息、均衡饮食和适度运动。身体状态会直接影响情绪。哪怕只是每天散步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分钟，对缓解焦虑也大有裨益。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正念练习：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每天花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5-10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分钟进行正念呼吸。当焦虑念头涌现时，不评判、不纠缠，只是看着它来，再看着它走，把注意力拉回到呼吸上。这能锻炼您不被焦虑念头带走的能力。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限制信息摄入：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减少无目的刷手机、看社交媒体的时间。过量的信息会加剧我们的焦虑和比较心理。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寻求专业支持：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如果上述自我调节方法效果有限，焦虑情绪已经严重影响到您的日常生活、工作和睡眠，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强烈建议您寻求心理咨询师的帮助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。心理咨询不是看病，而是学习如何更好地理解自己的情绪、转变思维模式、提升应对能力的过程。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总结一下：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请您尝试从最小、最具体的事情开始改变。比如，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今天就开始规划未来三天的日程，并务必安排进一段您喜欢的娱乐活动。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在参加婚礼前，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提前想好两个轻松的话题和一条退场策略。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每一次小的成功实践，都会为您积累对抗焦虑的信心。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改变需要时间，请对自己保持耐心和宽容。您已经意识到了问题，并积极寻求解决方案，这已经是迈向平静生活的至关重要的一步。祝您能一步步找到内心的平衡和力量。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CEE57-9D87-49F5-96C4-A516E5A6447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471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251013</a:t>
            </a:r>
            <a:r>
              <a:rPr lang="zh-CN" altLang="en-US" dirty="0"/>
              <a:t>：不考虑结构，无脑做 </a:t>
            </a:r>
            <a:r>
              <a:rPr lang="en-US" altLang="zh-CN" dirty="0"/>
              <a:t>- 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 err="1"/>
              <a:t>ipad</a:t>
            </a:r>
            <a:r>
              <a:rPr lang="zh-CN" altLang="en-US" dirty="0"/>
              <a:t>、新手机的两个号做起来。一个是卡加，一个是</a:t>
            </a:r>
            <a:r>
              <a:rPr lang="en-US" altLang="zh-CN" dirty="0" err="1"/>
              <a:t>lsat</a:t>
            </a:r>
            <a:r>
              <a:rPr lang="zh-CN" altLang="en-US" dirty="0"/>
              <a:t>备用号。    （</a:t>
            </a:r>
            <a:r>
              <a:rPr lang="en-US" altLang="zh-CN" dirty="0"/>
              <a:t>2</a:t>
            </a:r>
            <a:r>
              <a:rPr lang="zh-CN" altLang="en-US" dirty="0"/>
              <a:t>）新号的原风格内容  （</a:t>
            </a:r>
            <a:r>
              <a:rPr lang="en-US" altLang="zh-CN" dirty="0"/>
              <a:t>3</a:t>
            </a:r>
            <a:r>
              <a:rPr lang="zh-CN" altLang="en-US" dirty="0"/>
              <a:t>）新老号的“资讯”流程。 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CEE57-9D87-49F5-96C4-A516E5A6447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938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41C2D-2A02-11FC-B011-78D7A6FD3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F86FA0-B008-CE9D-A8BB-9EC500EC5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614BC5-0BB0-DDE3-9828-74CC8F52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01D9-2C4F-423F-8F23-7AD2792EA42A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ECC689-87C1-8702-161E-0DC40E77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062530-A4D8-DC5F-4FE5-22752EFF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0DDF-8C6C-4128-AC71-32678A75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369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92903-2C62-9870-72C5-D50128A8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A25D29-45AE-CCD0-93EE-73550A9A0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A52E29-5A0B-2E35-2360-7748E5BA6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01D9-2C4F-423F-8F23-7AD2792EA42A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550C88-F263-9B4A-BBE0-FA9880EC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1423FD-2B40-F775-18DB-35222F07A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0DDF-8C6C-4128-AC71-32678A75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79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947B92-CDD0-7B01-44C7-0125934C3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BF620C-C7E0-487A-DF79-E8F397A99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AC0A92-5140-8B3B-4AC9-A515F3CFF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01D9-2C4F-423F-8F23-7AD2792EA42A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F1C504-C159-B3EF-B44A-546013D5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21A7E3-A61E-CFFB-8737-7FFFC68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0DDF-8C6C-4128-AC71-32678A75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348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9B78C5-7648-052D-E5AC-4A06A1DE5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26385A-032A-F358-ECD5-2A2C8B652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208D67-F16B-7AE4-964E-2C55DB55E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77E530-1140-F200-63CB-A528A879D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01D9-2C4F-423F-8F23-7AD2792EA42A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1E2484-E40E-8CD9-3D04-8D43213F7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660982-BE47-E03D-30BD-FC14A6205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0DDF-8C6C-4128-AC71-32678A75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694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DFDC4-8E5A-1287-7E0E-ABD82CB76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4C9CC3-04C1-7B42-E9D3-A053E0EB1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6B893A-55DD-7A4D-AE8F-7CA16DD4A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5ABAFB-3B13-F007-78E7-A394FDFE2C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98D1610-7289-2B1A-487A-D08754E7E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7CE825-348B-0C07-9740-095F93C53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01D9-2C4F-423F-8F23-7AD2792EA42A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381879-49CD-2E75-F45D-D6B45DBBA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25853E-DC4F-E0F2-C00D-5659572D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0DDF-8C6C-4128-AC71-32678A75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10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550892-E31D-A8EF-A307-3C080A6B2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563051A-B21E-10CB-CDC8-26A0D0784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01D9-2C4F-423F-8F23-7AD2792EA42A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093F731-CA21-8F22-3C46-065BCA6BF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A436E5-3A2C-7144-48B9-457C5497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0DDF-8C6C-4128-AC71-32678A75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9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FE2B7E-FB43-7D9E-EA03-F419027AF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01D9-2C4F-423F-8F23-7AD2792EA42A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BD87CFC-B72E-C540-5E33-9B3F34F47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ECF55F-12A4-FFB5-03F3-C3F95CA92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0DDF-8C6C-4128-AC71-32678A75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22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CBD0C-2856-D022-F102-E2D4D78E4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0A7C98-EDB9-50AA-3136-1FD17277C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1773C3-73CC-2B72-F105-9779AA5AA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2BA6D4-223E-6F2E-6A4D-491312DD5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01D9-2C4F-423F-8F23-7AD2792EA42A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A6C416-C8AB-7DD3-6D9C-57B10446A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681CA7-0983-558A-1971-94FA91983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0DDF-8C6C-4128-AC71-32678A75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529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8E424F-31AE-A7CC-C7C2-F7FB5C1B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D77DC6-5FCE-A84A-6704-C14651F9D3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8ABFB3-40A6-5AB2-28DF-A6286B04E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8E77C3-3849-6B6D-CF81-5C56D4228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01D9-2C4F-423F-8F23-7AD2792EA42A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07950F-AFBC-2EC8-6562-AF0451D38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42B0D8-90BF-98F7-FEE9-C18DA736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0DDF-8C6C-4128-AC71-32678A75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766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CD68F-1B51-8F8A-1FAD-A35BD6F7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D7A027-E755-BB25-8AC7-287376AA5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D70B38-45C3-6549-BBBE-BFA9DCDF5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01D9-2C4F-423F-8F23-7AD2792EA42A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63B4CD-9406-B208-F53E-40B417A97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786922-AE94-3F83-72EE-A32FEAFDA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0DDF-8C6C-4128-AC71-32678A75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0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0AADCED-1B60-ED99-C2A2-ECCE249F1E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529C79-560D-200C-D5C5-F5A06C923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AAB132-77F5-5720-16B6-3531173D2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01D9-2C4F-423F-8F23-7AD2792EA42A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C90F6A-8619-C87A-1639-2BDE0A5B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6692CB-3187-247C-A0E6-AEA9E106C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0DDF-8C6C-4128-AC71-32678A75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62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5BA930-85D7-8EF5-DF9E-954761BEC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4AC589-21DE-B45C-C2B7-54BEBC825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11E2A0-83CB-AA47-E0B9-DC1261A40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E01D9-2C4F-423F-8F23-7AD2792EA42A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701729-AF39-D198-6437-A1A4EC96B6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E32C29-12B3-9F44-F48A-C8F5CD016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00DDF-8C6C-4128-AC71-32678A753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146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CF54E-93F5-D0BA-D8DF-3B5765AC98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546E29-6A27-5555-F366-1855636377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330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C567EEA-ADBD-B954-683B-9EDE991E13AF}"/>
              </a:ext>
            </a:extLst>
          </p:cNvPr>
          <p:cNvSpPr/>
          <p:nvPr/>
        </p:nvSpPr>
        <p:spPr>
          <a:xfrm>
            <a:off x="5385270" y="663843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哥飞稳定现金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63C5ED-2B68-CA1B-F50A-76037C39F434}"/>
              </a:ext>
            </a:extLst>
          </p:cNvPr>
          <p:cNvSpPr/>
          <p:nvPr/>
        </p:nvSpPr>
        <p:spPr>
          <a:xfrm>
            <a:off x="983483" y="1970513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万智牌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6D556A-CF95-BAED-D53D-68D6DD2B6BF3}"/>
              </a:ext>
            </a:extLst>
          </p:cNvPr>
          <p:cNvSpPr/>
          <p:nvPr/>
        </p:nvSpPr>
        <p:spPr>
          <a:xfrm>
            <a:off x="5360417" y="2839391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 </a:t>
            </a:r>
            <a:r>
              <a:rPr lang="zh-CN" altLang="en-US" dirty="0"/>
              <a:t>贱人（手工）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E1EF70-2E2B-9E01-A711-F2AC3A2AD6CC}"/>
              </a:ext>
            </a:extLst>
          </p:cNvPr>
          <p:cNvSpPr/>
          <p:nvPr/>
        </p:nvSpPr>
        <p:spPr>
          <a:xfrm>
            <a:off x="10059505" y="2839390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间歇性沉迷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C8C3BA-4F10-1696-6ADC-2CAD6ABED162}"/>
              </a:ext>
            </a:extLst>
          </p:cNvPr>
          <p:cNvSpPr/>
          <p:nvPr/>
        </p:nvSpPr>
        <p:spPr>
          <a:xfrm>
            <a:off x="983484" y="2724396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r>
              <a:rPr lang="zh-CN" altLang="en-US" dirty="0"/>
              <a:t>篮球（运动）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344808-745E-34D0-05B9-6F46216DCDF5}"/>
              </a:ext>
            </a:extLst>
          </p:cNvPr>
          <p:cNvSpPr/>
          <p:nvPr/>
        </p:nvSpPr>
        <p:spPr>
          <a:xfrm>
            <a:off x="983483" y="3495270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社交（</a:t>
            </a:r>
            <a:r>
              <a:rPr lang="en-US" altLang="zh-CN" dirty="0"/>
              <a:t>+</a:t>
            </a:r>
            <a:r>
              <a:rPr lang="zh-CN" altLang="en-US" dirty="0"/>
              <a:t>人生热情）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9C4911-EB82-3C19-48A4-FC6262C9AEF6}"/>
              </a:ext>
            </a:extLst>
          </p:cNvPr>
          <p:cNvSpPr/>
          <p:nvPr/>
        </p:nvSpPr>
        <p:spPr>
          <a:xfrm>
            <a:off x="5360416" y="1892859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众人游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4BDCA9-273C-80A4-2A0C-531E74B47101}"/>
              </a:ext>
            </a:extLst>
          </p:cNvPr>
          <p:cNvSpPr/>
          <p:nvPr/>
        </p:nvSpPr>
        <p:spPr>
          <a:xfrm>
            <a:off x="5385270" y="5014940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旅游与户外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E499DB-E704-95FD-0997-DC45C7137A73}"/>
              </a:ext>
            </a:extLst>
          </p:cNvPr>
          <p:cNvSpPr/>
          <p:nvPr/>
        </p:nvSpPr>
        <p:spPr>
          <a:xfrm>
            <a:off x="7709961" y="2331460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碎片时间 </a:t>
            </a:r>
            <a:r>
              <a:rPr lang="en-US" altLang="zh-CN" dirty="0"/>
              <a:t>– </a:t>
            </a:r>
            <a:r>
              <a:rPr lang="zh-CN" altLang="en-US" dirty="0"/>
              <a:t>书籍阅读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D79D98-BCBB-E2A4-D50E-B4DBA588DDB6}"/>
              </a:ext>
            </a:extLst>
          </p:cNvPr>
          <p:cNvSpPr/>
          <p:nvPr/>
        </p:nvSpPr>
        <p:spPr>
          <a:xfrm>
            <a:off x="983483" y="5229567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日常生活的语言提升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F54270C-700A-03C6-9C42-1B1D01689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83" y="99928"/>
            <a:ext cx="1685970" cy="161091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0AB84E9-77F3-9AED-92D8-E950AE5FD678}"/>
              </a:ext>
            </a:extLst>
          </p:cNvPr>
          <p:cNvSpPr/>
          <p:nvPr/>
        </p:nvSpPr>
        <p:spPr>
          <a:xfrm>
            <a:off x="10059504" y="5014940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老孟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8553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36D7DF8-CD4C-D7AE-45B1-EB53900F11FB}"/>
              </a:ext>
            </a:extLst>
          </p:cNvPr>
          <p:cNvSpPr/>
          <p:nvPr/>
        </p:nvSpPr>
        <p:spPr>
          <a:xfrm>
            <a:off x="-392343" y="2902734"/>
            <a:ext cx="1633087" cy="7157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语言读书项目</a:t>
            </a:r>
            <a:endParaRPr lang="en-US" altLang="zh-CN" dirty="0"/>
          </a:p>
          <a:p>
            <a:pPr algn="ctr"/>
            <a:r>
              <a:rPr lang="zh-CN" altLang="en-US" dirty="0"/>
              <a:t>（</a:t>
            </a:r>
            <a:r>
              <a:rPr lang="en-US" altLang="zh-CN" dirty="0"/>
              <a:t>clock ticking</a:t>
            </a:r>
            <a:r>
              <a:rPr lang="zh-CN" altLang="en-US" dirty="0"/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235B3C-AA05-A1C9-D14D-CDD8085B4A9B}"/>
              </a:ext>
            </a:extLst>
          </p:cNvPr>
          <p:cNvSpPr/>
          <p:nvPr/>
        </p:nvSpPr>
        <p:spPr>
          <a:xfrm>
            <a:off x="-392343" y="3624629"/>
            <a:ext cx="1633087" cy="224582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每天都要用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还能出视频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导图也在里面，不过可以后做。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F9B78DA-AE6B-EB5E-0AD8-3A0B95CB3DC8}"/>
              </a:ext>
            </a:extLst>
          </p:cNvPr>
          <p:cNvSpPr/>
          <p:nvPr/>
        </p:nvSpPr>
        <p:spPr>
          <a:xfrm>
            <a:off x="1294199" y="2897754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宝可梦数据库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0B21D2-45C2-2207-9ED7-9D9D4684A09D}"/>
              </a:ext>
            </a:extLst>
          </p:cNvPr>
          <p:cNvSpPr/>
          <p:nvPr/>
        </p:nvSpPr>
        <p:spPr>
          <a:xfrm>
            <a:off x="1285340" y="3651526"/>
            <a:ext cx="1633087" cy="13444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比较快</a:t>
            </a:r>
            <a:endParaRPr lang="en-US" altLang="zh-CN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B97E35-2214-7FB8-E481-A91CC8E92843}"/>
              </a:ext>
            </a:extLst>
          </p:cNvPr>
          <p:cNvSpPr/>
          <p:nvPr/>
        </p:nvSpPr>
        <p:spPr>
          <a:xfrm>
            <a:off x="2230116" y="358238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考团</a:t>
            </a:r>
            <a:r>
              <a:rPr lang="en-US" altLang="zh-CN" dirty="0"/>
              <a:t>SEO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16428C-944A-E66A-5F1C-3449EFEB07E4}"/>
              </a:ext>
            </a:extLst>
          </p:cNvPr>
          <p:cNvSpPr/>
          <p:nvPr/>
        </p:nvSpPr>
        <p:spPr>
          <a:xfrm>
            <a:off x="2230116" y="1080132"/>
            <a:ext cx="1633087" cy="13444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50w/</a:t>
            </a:r>
            <a:r>
              <a:rPr lang="zh-CN" altLang="en-US" dirty="0"/>
              <a:t>年</a:t>
            </a:r>
            <a:endParaRPr lang="en-US" altLang="zh-CN" dirty="0"/>
          </a:p>
          <a:p>
            <a:pPr algn="ctr"/>
            <a:r>
              <a:rPr lang="zh-CN" altLang="en-US" dirty="0"/>
              <a:t>长期重要</a:t>
            </a:r>
            <a:r>
              <a:rPr lang="en-US" altLang="zh-CN" dirty="0"/>
              <a:t>x</a:t>
            </a:r>
          </a:p>
          <a:p>
            <a:pPr algn="ctr"/>
            <a:r>
              <a:rPr lang="zh-CN" altLang="en-US" dirty="0"/>
              <a:t>可以练习细节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BFD858-A43F-400D-6DB5-F4B5ACD9147D}"/>
              </a:ext>
            </a:extLst>
          </p:cNvPr>
          <p:cNvSpPr/>
          <p:nvPr/>
        </p:nvSpPr>
        <p:spPr>
          <a:xfrm>
            <a:off x="7724961" y="-172338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专家观点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4A0C9E-36DD-B6F5-A694-6FC075625A98}"/>
              </a:ext>
            </a:extLst>
          </p:cNvPr>
          <p:cNvSpPr/>
          <p:nvPr/>
        </p:nvSpPr>
        <p:spPr>
          <a:xfrm>
            <a:off x="7724960" y="549557"/>
            <a:ext cx="1633087" cy="13444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很慢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853828A-F700-381E-ED53-ECB6A2B946DC}"/>
              </a:ext>
            </a:extLst>
          </p:cNvPr>
          <p:cNvSpPr/>
          <p:nvPr/>
        </p:nvSpPr>
        <p:spPr>
          <a:xfrm>
            <a:off x="9366740" y="-196536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知乎预测评分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73ECEA0-71F6-44B3-3378-75B0C2EBA113}"/>
              </a:ext>
            </a:extLst>
          </p:cNvPr>
          <p:cNvSpPr/>
          <p:nvPr/>
        </p:nvSpPr>
        <p:spPr>
          <a:xfrm>
            <a:off x="9366740" y="575047"/>
            <a:ext cx="1633087" cy="13444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很慢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E3C7D3-178F-0840-0048-4D2347EB6D56}"/>
              </a:ext>
            </a:extLst>
          </p:cNvPr>
          <p:cNvSpPr/>
          <p:nvPr/>
        </p:nvSpPr>
        <p:spPr>
          <a:xfrm>
            <a:off x="-2070026" y="2896552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React</a:t>
            </a:r>
            <a:r>
              <a:rPr lang="zh-CN" altLang="en-US" dirty="0"/>
              <a:t>项目快速学习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90D7B9D-1FB9-F483-4C29-EFD645378B1A}"/>
              </a:ext>
            </a:extLst>
          </p:cNvPr>
          <p:cNvSpPr/>
          <p:nvPr/>
        </p:nvSpPr>
        <p:spPr>
          <a:xfrm>
            <a:off x="-2070027" y="3618447"/>
            <a:ext cx="1633087" cy="13444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有基本自信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1187B1-21D1-0BB2-4FD5-CCFAE933FA9F}"/>
              </a:ext>
            </a:extLst>
          </p:cNvPr>
          <p:cNvSpPr/>
          <p:nvPr/>
        </p:nvSpPr>
        <p:spPr>
          <a:xfrm>
            <a:off x="1285340" y="6110147"/>
            <a:ext cx="1633087" cy="72189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金融交易实盘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849E4C-A77B-C921-C4AF-29E83A158A49}"/>
              </a:ext>
            </a:extLst>
          </p:cNvPr>
          <p:cNvSpPr/>
          <p:nvPr/>
        </p:nvSpPr>
        <p:spPr>
          <a:xfrm>
            <a:off x="1285340" y="6832041"/>
            <a:ext cx="1633087" cy="197946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做好了，</a:t>
            </a:r>
            <a:r>
              <a:rPr lang="en-US" altLang="zh-CN" dirty="0"/>
              <a:t>20w/</a:t>
            </a:r>
            <a:r>
              <a:rPr lang="zh-CN" altLang="en-US" dirty="0"/>
              <a:t>年（</a:t>
            </a:r>
            <a:r>
              <a:rPr lang="en-US" altLang="zh-CN" dirty="0"/>
              <a:t>100w</a:t>
            </a:r>
            <a:r>
              <a:rPr lang="zh-CN" altLang="en-US" dirty="0"/>
              <a:t>本金）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基础项目可以先做</a:t>
            </a:r>
            <a:endParaRPr lang="en-US" altLang="zh-CN" dirty="0"/>
          </a:p>
          <a:p>
            <a:pPr algn="ctr"/>
            <a:r>
              <a:rPr lang="zh-CN" altLang="en-US" dirty="0"/>
              <a:t>其实是媒体项目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25EFAE4-5A64-0C6D-7BC4-93B0C2487A63}"/>
              </a:ext>
            </a:extLst>
          </p:cNvPr>
          <p:cNvSpPr/>
          <p:nvPr/>
        </p:nvSpPr>
        <p:spPr>
          <a:xfrm>
            <a:off x="4631847" y="2896552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 </a:t>
            </a:r>
            <a:r>
              <a:rPr lang="zh-CN" altLang="en-US" dirty="0"/>
              <a:t>身体健康</a:t>
            </a:r>
            <a:r>
              <a:rPr lang="en-US" altLang="zh-CN" dirty="0"/>
              <a:t>agent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BEAAAA-74DD-AC54-E63C-9FD2C8849F72}"/>
              </a:ext>
            </a:extLst>
          </p:cNvPr>
          <p:cNvSpPr/>
          <p:nvPr/>
        </p:nvSpPr>
        <p:spPr>
          <a:xfrm>
            <a:off x="4631846" y="3618447"/>
            <a:ext cx="1633087" cy="13444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有现实需求</a:t>
            </a:r>
            <a:endParaRPr lang="en-US" altLang="zh-CN" dirty="0"/>
          </a:p>
          <a:p>
            <a:pPr algn="ctr"/>
            <a:r>
              <a:rPr lang="zh-CN" altLang="en-US" dirty="0"/>
              <a:t>可以做很快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9C7A9F9-B5AB-E718-5F2C-1A314E3BAE19}"/>
              </a:ext>
            </a:extLst>
          </p:cNvPr>
          <p:cNvSpPr/>
          <p:nvPr/>
        </p:nvSpPr>
        <p:spPr>
          <a:xfrm>
            <a:off x="6286674" y="-172338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意识形态分类器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336D929-96BD-B639-10FB-9BB137FD9665}"/>
              </a:ext>
            </a:extLst>
          </p:cNvPr>
          <p:cNvSpPr/>
          <p:nvPr/>
        </p:nvSpPr>
        <p:spPr>
          <a:xfrm>
            <a:off x="6286674" y="549556"/>
            <a:ext cx="1633087" cy="13444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还行，不快。但收益全来自</a:t>
            </a:r>
            <a:r>
              <a:rPr lang="en-US" altLang="zh-CN" dirty="0"/>
              <a:t>SEO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D3B1E5B-0C74-EC6F-2809-2F2869EA2F96}"/>
              </a:ext>
            </a:extLst>
          </p:cNvPr>
          <p:cNvSpPr/>
          <p:nvPr/>
        </p:nvSpPr>
        <p:spPr>
          <a:xfrm>
            <a:off x="2963023" y="2896553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名人知识库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7556A47-C1B9-5CBA-2187-EE657017B35A}"/>
              </a:ext>
            </a:extLst>
          </p:cNvPr>
          <p:cNvSpPr/>
          <p:nvPr/>
        </p:nvSpPr>
        <p:spPr>
          <a:xfrm>
            <a:off x="2963023" y="3618447"/>
            <a:ext cx="1633087" cy="13444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比较快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1E81C44-A8E4-C57D-C71B-328D8E4FE93A}"/>
              </a:ext>
            </a:extLst>
          </p:cNvPr>
          <p:cNvSpPr/>
          <p:nvPr/>
        </p:nvSpPr>
        <p:spPr>
          <a:xfrm>
            <a:off x="3907799" y="358238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Twitter/</a:t>
            </a:r>
            <a:r>
              <a:rPr lang="en-US" altLang="zh-CN" dirty="0" err="1"/>
              <a:t>onlyfan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91F43A-E938-24D5-95B4-A0EE637FD823}"/>
              </a:ext>
            </a:extLst>
          </p:cNvPr>
          <p:cNvSpPr/>
          <p:nvPr/>
        </p:nvSpPr>
        <p:spPr>
          <a:xfrm>
            <a:off x="3907799" y="1080132"/>
            <a:ext cx="1633087" cy="13444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收益上限最高。</a:t>
            </a:r>
            <a:endParaRPr lang="en-US" altLang="zh-CN" dirty="0"/>
          </a:p>
          <a:p>
            <a:pPr algn="ctr"/>
            <a:r>
              <a:rPr lang="zh-CN" altLang="en-US" dirty="0"/>
              <a:t>比起金融交易，更适合我这种智商不高的！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926516F-A26D-EA5C-982C-ECB90C658258}"/>
              </a:ext>
            </a:extLst>
          </p:cNvPr>
          <p:cNvSpPr/>
          <p:nvPr/>
        </p:nvSpPr>
        <p:spPr>
          <a:xfrm>
            <a:off x="7423459" y="4765735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万智牌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0E51E59-50ED-79BB-A620-D11AAF89DB41}"/>
              </a:ext>
            </a:extLst>
          </p:cNvPr>
          <p:cNvSpPr/>
          <p:nvPr/>
        </p:nvSpPr>
        <p:spPr>
          <a:xfrm>
            <a:off x="7423459" y="5487629"/>
            <a:ext cx="1633087" cy="13444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往后压。因为收益较小。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F58D6AA-B200-1D81-D06B-2299ECFDE669}"/>
              </a:ext>
            </a:extLst>
          </p:cNvPr>
          <p:cNvSpPr/>
          <p:nvPr/>
        </p:nvSpPr>
        <p:spPr>
          <a:xfrm>
            <a:off x="2954163" y="4547053"/>
            <a:ext cx="1633087" cy="721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Youtube</a:t>
            </a:r>
            <a:r>
              <a:rPr lang="zh-CN" altLang="en-US" dirty="0"/>
              <a:t>和播客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B777601-16F3-C081-C72C-BF5C6486C06B}"/>
              </a:ext>
            </a:extLst>
          </p:cNvPr>
          <p:cNvSpPr/>
          <p:nvPr/>
        </p:nvSpPr>
        <p:spPr>
          <a:xfrm>
            <a:off x="2954163" y="5268947"/>
            <a:ext cx="1633087" cy="13444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和名人知识库可以联动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8761EE-78E1-A9F2-34B7-AE7AF4627A11}"/>
              </a:ext>
            </a:extLst>
          </p:cNvPr>
          <p:cNvSpPr/>
          <p:nvPr/>
        </p:nvSpPr>
        <p:spPr>
          <a:xfrm>
            <a:off x="-392342" y="6110147"/>
            <a:ext cx="1633087" cy="72189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媒体项目 </a:t>
            </a:r>
            <a:r>
              <a:rPr lang="en-US" altLang="zh-CN" dirty="0"/>
              <a:t>– </a:t>
            </a:r>
            <a:r>
              <a:rPr lang="zh-CN" altLang="en-US" dirty="0"/>
              <a:t>强迫</a:t>
            </a:r>
            <a:r>
              <a:rPr lang="en-US" altLang="zh-CN" dirty="0" err="1"/>
              <a:t>mbti</a:t>
            </a:r>
            <a:r>
              <a:rPr lang="zh-CN" altLang="en-US"/>
              <a:t>金庸六维排名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04AF77-2EBF-6CCF-D49E-52BC7F5DAF26}"/>
              </a:ext>
            </a:extLst>
          </p:cNvPr>
          <p:cNvSpPr/>
          <p:nvPr/>
        </p:nvSpPr>
        <p:spPr>
          <a:xfrm>
            <a:off x="-392343" y="6832042"/>
            <a:ext cx="1633087" cy="486465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有基本自信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海贼王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一个可以参与的网站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AI</a:t>
            </a:r>
            <a:r>
              <a:rPr lang="zh-CN" altLang="en-US" dirty="0"/>
              <a:t>给出基本模型，之后的用户参与。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电子斗蛐蛐 通用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靠贪嗔痴赚钱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C3A521-76E8-8AA2-2A8B-D3CB7C060BD3}"/>
              </a:ext>
            </a:extLst>
          </p:cNvPr>
          <p:cNvSpPr/>
          <p:nvPr/>
        </p:nvSpPr>
        <p:spPr>
          <a:xfrm>
            <a:off x="-2070026" y="6110146"/>
            <a:ext cx="1633087" cy="72189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媒体项目 </a:t>
            </a:r>
            <a:r>
              <a:rPr lang="en-US" altLang="zh-CN" dirty="0"/>
              <a:t>–telegram</a:t>
            </a:r>
            <a:r>
              <a:rPr lang="zh-CN" altLang="en-US" dirty="0"/>
              <a:t>风流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DF29F3-456F-D12D-3504-C9CA1779828D}"/>
              </a:ext>
            </a:extLst>
          </p:cNvPr>
          <p:cNvSpPr/>
          <p:nvPr/>
        </p:nvSpPr>
        <p:spPr>
          <a:xfrm>
            <a:off x="-2070027" y="6832041"/>
            <a:ext cx="1633087" cy="13444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有基本自信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6D169F-FE6D-98F4-7F70-B5D15C31F52D}"/>
              </a:ext>
            </a:extLst>
          </p:cNvPr>
          <p:cNvSpPr/>
          <p:nvPr/>
        </p:nvSpPr>
        <p:spPr>
          <a:xfrm>
            <a:off x="4922608" y="6858000"/>
            <a:ext cx="1633087" cy="72189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媒体项目</a:t>
            </a:r>
            <a:r>
              <a:rPr lang="en-US" altLang="zh-CN" dirty="0"/>
              <a:t>-</a:t>
            </a:r>
            <a:r>
              <a:rPr lang="zh-CN" altLang="en-US" dirty="0"/>
              <a:t>韩剧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816A0FB-F45F-A1E7-7E0B-EC4F3FCFD593}"/>
              </a:ext>
            </a:extLst>
          </p:cNvPr>
          <p:cNvSpPr/>
          <p:nvPr/>
        </p:nvSpPr>
        <p:spPr>
          <a:xfrm>
            <a:off x="4922607" y="7579895"/>
            <a:ext cx="1633087" cy="13444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自己的喜好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4279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03B86FC-FD19-4600-30B2-CA7EA4C361B2}"/>
              </a:ext>
            </a:extLst>
          </p:cNvPr>
          <p:cNvSpPr/>
          <p:nvPr/>
        </p:nvSpPr>
        <p:spPr>
          <a:xfrm>
            <a:off x="1284560" y="4725179"/>
            <a:ext cx="1633087" cy="13444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学到：</a:t>
            </a:r>
            <a:endParaRPr lang="en-US" altLang="zh-CN" dirty="0"/>
          </a:p>
          <a:p>
            <a:pPr algn="ctr"/>
            <a:r>
              <a:rPr lang="zh-CN" altLang="en-US" dirty="0"/>
              <a:t>开发管理</a:t>
            </a: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3BC50B-64AD-F3EE-93A4-B6DE71287F50}"/>
              </a:ext>
            </a:extLst>
          </p:cNvPr>
          <p:cNvSpPr/>
          <p:nvPr/>
        </p:nvSpPr>
        <p:spPr>
          <a:xfrm>
            <a:off x="1284559" y="3940628"/>
            <a:ext cx="1633087" cy="78455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考团网</a:t>
            </a:r>
            <a:endParaRPr lang="en-US" altLang="zh-CN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E6D1F9-B5FE-727B-F913-BA7EF67407FC}"/>
              </a:ext>
            </a:extLst>
          </p:cNvPr>
          <p:cNvSpPr/>
          <p:nvPr/>
        </p:nvSpPr>
        <p:spPr>
          <a:xfrm>
            <a:off x="1284560" y="1811664"/>
            <a:ext cx="1633087" cy="13444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学到：</a:t>
            </a:r>
            <a:r>
              <a:rPr lang="en-US" altLang="zh-CN" dirty="0"/>
              <a:t>react</a:t>
            </a:r>
            <a:r>
              <a:rPr lang="zh-CN" altLang="en-US" dirty="0"/>
              <a:t>实践</a:t>
            </a:r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9FE3D6-FE94-A17D-086F-CCB6D835484A}"/>
              </a:ext>
            </a:extLst>
          </p:cNvPr>
          <p:cNvSpPr/>
          <p:nvPr/>
        </p:nvSpPr>
        <p:spPr>
          <a:xfrm>
            <a:off x="1284559" y="1027113"/>
            <a:ext cx="1633087" cy="78455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语言读书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2100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6BF7D-C11B-9923-1A06-30C3FCE8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沉迷失败原因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1119DD-40AB-282A-6647-3E5157BF4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知乎、小红书、晚睡</a:t>
            </a:r>
            <a:r>
              <a:rPr lang="en-US" altLang="zh-CN" dirty="0" err="1"/>
              <a:t>ipad</a:t>
            </a:r>
            <a:r>
              <a:rPr lang="zh-CN" altLang="en-US" dirty="0"/>
              <a:t>等</a:t>
            </a:r>
            <a:endParaRPr lang="en-US" altLang="zh-CN" dirty="0"/>
          </a:p>
          <a:p>
            <a:r>
              <a:rPr lang="zh-CN" altLang="en-US" dirty="0"/>
              <a:t>参杂了功利因素。</a:t>
            </a:r>
            <a:endParaRPr lang="en-US" altLang="zh-CN" dirty="0"/>
          </a:p>
          <a:p>
            <a:r>
              <a:rPr lang="zh-CN" altLang="en-US" dirty="0"/>
              <a:t>运动时间没控制住。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起床后，听自己喜欢的书，而不要看知乎。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93109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EDF25EB-E068-B29D-F0F1-94F25B357254}"/>
              </a:ext>
            </a:extLst>
          </p:cNvPr>
          <p:cNvSpPr/>
          <p:nvPr/>
        </p:nvSpPr>
        <p:spPr>
          <a:xfrm>
            <a:off x="1151208" y="1513087"/>
            <a:ext cx="1633087" cy="292556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补办移动，联通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把卡加的另一个先开了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研究海外公司</a:t>
            </a:r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9DA889-A290-0EA1-346F-B459B9CC3D8F}"/>
              </a:ext>
            </a:extLst>
          </p:cNvPr>
          <p:cNvSpPr/>
          <p:nvPr/>
        </p:nvSpPr>
        <p:spPr>
          <a:xfrm>
            <a:off x="1151209" y="723345"/>
            <a:ext cx="1633087" cy="78455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多个账号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C6FFDA-BAB7-0A65-702E-4B7C1A7DC42C}"/>
              </a:ext>
            </a:extLst>
          </p:cNvPr>
          <p:cNvSpPr/>
          <p:nvPr/>
        </p:nvSpPr>
        <p:spPr>
          <a:xfrm>
            <a:off x="11600792" y="799545"/>
            <a:ext cx="1182416" cy="45775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办</a:t>
            </a: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6CFBF4-AF16-68D4-C6F3-0F138E663C51}"/>
              </a:ext>
            </a:extLst>
          </p:cNvPr>
          <p:cNvSpPr/>
          <p:nvPr/>
        </p:nvSpPr>
        <p:spPr>
          <a:xfrm>
            <a:off x="8161608" y="723345"/>
            <a:ext cx="1633087" cy="392485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海报类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AIGC</a:t>
            </a:r>
            <a:r>
              <a:rPr lang="zh-CN" altLang="en-US" dirty="0"/>
              <a:t>类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题目类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分数报告类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Rick</a:t>
            </a:r>
            <a:r>
              <a:rPr lang="zh-CN" altLang="en-US" dirty="0"/>
              <a:t>奸贼类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/>
              <a:t>视频出境类</a:t>
            </a:r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F2127E-FA07-2731-E593-C4BE9CF31325}"/>
              </a:ext>
            </a:extLst>
          </p:cNvPr>
          <p:cNvSpPr/>
          <p:nvPr/>
        </p:nvSpPr>
        <p:spPr>
          <a:xfrm>
            <a:off x="8161609" y="-66397"/>
            <a:ext cx="1633087" cy="78455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批量生产内容</a:t>
            </a:r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853B4C-A19B-98C3-9FBE-FAEDAE05FE06}"/>
              </a:ext>
            </a:extLst>
          </p:cNvPr>
          <p:cNvSpPr/>
          <p:nvPr/>
        </p:nvSpPr>
        <p:spPr>
          <a:xfrm>
            <a:off x="3411103" y="1487096"/>
            <a:ext cx="1633087" cy="78455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推广矩阵优化</a:t>
            </a:r>
            <a:endParaRPr lang="en-US" altLang="zh-CN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BA01E9-C246-B64C-A54F-5E3173A431DD}"/>
              </a:ext>
            </a:extLst>
          </p:cNvPr>
          <p:cNvSpPr/>
          <p:nvPr/>
        </p:nvSpPr>
        <p:spPr>
          <a:xfrm>
            <a:off x="3411102" y="2271647"/>
            <a:ext cx="1633087" cy="257258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下方评论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刷号</a:t>
            </a:r>
            <a:endParaRPr lang="en-US" altLang="zh-CN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DB610D-5A6A-3DC5-1A0A-9FE615B8406E}"/>
              </a:ext>
            </a:extLst>
          </p:cNvPr>
          <p:cNvSpPr/>
          <p:nvPr/>
        </p:nvSpPr>
        <p:spPr>
          <a:xfrm>
            <a:off x="5895725" y="3429000"/>
            <a:ext cx="1633087" cy="52359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海报类</a:t>
            </a:r>
            <a:endParaRPr lang="en-US" altLang="zh-CN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92FCA5-5FE0-0494-3E52-D507ABF4B457}"/>
              </a:ext>
            </a:extLst>
          </p:cNvPr>
          <p:cNvSpPr/>
          <p:nvPr/>
        </p:nvSpPr>
        <p:spPr>
          <a:xfrm>
            <a:off x="5895725" y="3973397"/>
            <a:ext cx="1633087" cy="241787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先提炼内容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79701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72E92-9E85-EDEE-39C6-7009F00B5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LingTool</a:t>
            </a:r>
            <a:r>
              <a:rPr lang="en-US" altLang="zh-CN" dirty="0"/>
              <a:t> – </a:t>
            </a:r>
            <a:r>
              <a:rPr lang="zh-CN" altLang="en-US" dirty="0"/>
              <a:t>总结器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3874A8-5167-4DB4-DC8B-77B734F4DEF4}"/>
              </a:ext>
            </a:extLst>
          </p:cNvPr>
          <p:cNvSpPr/>
          <p:nvPr/>
        </p:nvSpPr>
        <p:spPr>
          <a:xfrm>
            <a:off x="959479" y="1690688"/>
            <a:ext cx="1061049" cy="188579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217766-BF66-B29C-FB66-4D9C17BB650B}"/>
              </a:ext>
            </a:extLst>
          </p:cNvPr>
          <p:cNvSpPr/>
          <p:nvPr/>
        </p:nvSpPr>
        <p:spPr>
          <a:xfrm>
            <a:off x="4238539" y="1690688"/>
            <a:ext cx="1690314" cy="109675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313ED3-1995-3FEF-0CB8-4FFE2DD021CE}"/>
              </a:ext>
            </a:extLst>
          </p:cNvPr>
          <p:cNvSpPr/>
          <p:nvPr/>
        </p:nvSpPr>
        <p:spPr>
          <a:xfrm>
            <a:off x="4238539" y="2973799"/>
            <a:ext cx="4069719" cy="351907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Name</a:t>
            </a:r>
          </a:p>
          <a:p>
            <a:endParaRPr lang="en-US" altLang="zh-CN" dirty="0"/>
          </a:p>
          <a:p>
            <a:r>
              <a:rPr lang="en-US" altLang="zh-CN" dirty="0"/>
              <a:t>Chapter 1, XXXXX</a:t>
            </a:r>
          </a:p>
          <a:p>
            <a:r>
              <a:rPr lang="en-US" altLang="zh-CN" dirty="0"/>
              <a:t>	Summary: </a:t>
            </a:r>
            <a:r>
              <a:rPr lang="en-US" altLang="zh-CN" dirty="0" err="1"/>
              <a:t>xxxxxxxxxxxxxxxxxxx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SummaryDetailed</a:t>
            </a:r>
            <a:r>
              <a:rPr lang="en-US" altLang="zh-CN" dirty="0"/>
              <a:t> v: 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xxxxxx</a:t>
            </a:r>
            <a:r>
              <a:rPr lang="en-US" altLang="zh-CN" dirty="0"/>
              <a:t>(</a:t>
            </a:r>
            <a:r>
              <a:rPr lang="en-US" altLang="zh-CN"/>
              <a:t>clickable) v</a:t>
            </a:r>
            <a:endParaRPr lang="en-US" altLang="zh-CN" dirty="0"/>
          </a:p>
          <a:p>
            <a:r>
              <a:rPr lang="en-US" altLang="zh-CN" dirty="0"/>
              <a:t>			Suggestion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xxxxxx</a:t>
            </a:r>
            <a:r>
              <a:rPr lang="en-US" altLang="zh-CN" dirty="0"/>
              <a:t>(clickable)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xxxxxx</a:t>
            </a:r>
            <a:r>
              <a:rPr lang="en-US" altLang="zh-CN" dirty="0"/>
              <a:t>(clickable)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xxxxxx</a:t>
            </a:r>
            <a:r>
              <a:rPr lang="en-US" altLang="zh-CN" dirty="0"/>
              <a:t>(clickable)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xxxxxx</a:t>
            </a:r>
            <a:r>
              <a:rPr lang="en-US" altLang="zh-CN" dirty="0"/>
              <a:t>(clickable)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xxxxxx</a:t>
            </a:r>
            <a:r>
              <a:rPr lang="en-US" altLang="zh-CN" dirty="0"/>
              <a:t>(clickable)</a:t>
            </a:r>
          </a:p>
          <a:p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56417D-778E-326A-AC55-15C079D8FECC}"/>
              </a:ext>
            </a:extLst>
          </p:cNvPr>
          <p:cNvSpPr/>
          <p:nvPr/>
        </p:nvSpPr>
        <p:spPr>
          <a:xfrm>
            <a:off x="8308258" y="2973799"/>
            <a:ext cx="3962400" cy="351907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阅读器对应的位置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7760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A4C4DFD-70FF-08F5-268A-BF77DAF45845}"/>
              </a:ext>
            </a:extLst>
          </p:cNvPr>
          <p:cNvSpPr/>
          <p:nvPr/>
        </p:nvSpPr>
        <p:spPr>
          <a:xfrm>
            <a:off x="93408" y="2037734"/>
            <a:ext cx="3569110" cy="24654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症状：很焦虑</a:t>
            </a:r>
            <a:endParaRPr lang="en-US" altLang="zh-CN" sz="1400" dirty="0"/>
          </a:p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要参加婚礼见人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algn="ctr"/>
            <a:r>
              <a:rPr lang="zh-CN" altLang="en-US" sz="1400" dirty="0"/>
              <a:t>焦虑年龄增大</a:t>
            </a:r>
            <a:endParaRPr lang="en-US" altLang="zh-CN" sz="1400" dirty="0"/>
          </a:p>
          <a:p>
            <a:pPr algn="ctr"/>
            <a:r>
              <a:rPr lang="zh-CN" altLang="en-US" sz="1400" dirty="0"/>
              <a:t>焦虑事情很多，时间太少</a:t>
            </a:r>
            <a:endParaRPr lang="en-US" altLang="zh-CN" sz="1400" dirty="0"/>
          </a:p>
          <a:p>
            <a:pPr algn="ctr"/>
            <a:r>
              <a:rPr lang="zh-CN" altLang="en-US" sz="1400" dirty="0"/>
              <a:t>焦虑性无法满足，又焦虑满足后的社会代价</a:t>
            </a:r>
            <a:endParaRPr lang="en-US" altLang="zh-CN" sz="1400" dirty="0"/>
          </a:p>
          <a:p>
            <a:pPr algn="ctr"/>
            <a:r>
              <a:rPr lang="zh-CN" altLang="en-US" sz="1400" dirty="0"/>
              <a:t>焦虑自己自绝于社会</a:t>
            </a:r>
            <a:endParaRPr lang="en-US" altLang="zh-CN" sz="1400" dirty="0"/>
          </a:p>
          <a:p>
            <a:pPr algn="ctr"/>
            <a:r>
              <a:rPr lang="zh-CN" altLang="en-US" sz="1400" dirty="0"/>
              <a:t>焦虑自己厌恶人类</a:t>
            </a:r>
            <a:endParaRPr lang="en-US" altLang="zh-CN" sz="1400" dirty="0"/>
          </a:p>
          <a:p>
            <a:pPr algn="ctr"/>
            <a:r>
              <a:rPr lang="zh-CN" altLang="en-US" sz="1400" dirty="0"/>
              <a:t>焦虑自己的娱乐爱好时间不足</a:t>
            </a:r>
            <a:endParaRPr lang="en-US" altLang="zh-CN" sz="1400" dirty="0"/>
          </a:p>
          <a:p>
            <a:pPr algn="ctr"/>
            <a:r>
              <a:rPr lang="zh-CN" altLang="en-US" sz="1400" dirty="0"/>
              <a:t>焦虑自己的灰产（能用时间换钱）做得不够</a:t>
            </a:r>
            <a:endParaRPr lang="en-US" altLang="zh-CN" sz="1400" dirty="0"/>
          </a:p>
          <a:p>
            <a:pPr algn="ctr"/>
            <a:r>
              <a:rPr lang="zh-CN" altLang="en-US" sz="1400" dirty="0"/>
              <a:t>焦虑自己的编程项目做得不够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30B922-F703-584A-9BC7-4D0432B00015}"/>
              </a:ext>
            </a:extLst>
          </p:cNvPr>
          <p:cNvSpPr/>
          <p:nvPr/>
        </p:nvSpPr>
        <p:spPr>
          <a:xfrm>
            <a:off x="4345858" y="162233"/>
            <a:ext cx="3500283" cy="15485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元素整理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7186F2-9C79-68E5-B79F-9B0A6DDF12B6}"/>
              </a:ext>
            </a:extLst>
          </p:cNvPr>
          <p:cNvSpPr/>
          <p:nvPr/>
        </p:nvSpPr>
        <p:spPr>
          <a:xfrm>
            <a:off x="5250424" y="5105400"/>
            <a:ext cx="1691150" cy="538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无脑做事情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09D674-FEF9-7589-F2D3-1F11169DFA57}"/>
              </a:ext>
            </a:extLst>
          </p:cNvPr>
          <p:cNvSpPr/>
          <p:nvPr/>
        </p:nvSpPr>
        <p:spPr>
          <a:xfrm>
            <a:off x="889817" y="6005051"/>
            <a:ext cx="1691150" cy="538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身体完全健康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19C46E-3AE3-AB26-7C4A-D34BEE782F04}"/>
              </a:ext>
            </a:extLst>
          </p:cNvPr>
          <p:cNvSpPr/>
          <p:nvPr/>
        </p:nvSpPr>
        <p:spPr>
          <a:xfrm>
            <a:off x="2654708" y="6005051"/>
            <a:ext cx="1691150" cy="538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形象一次改造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8DCFEE-C4D9-1F2B-418C-76179E3A2A84}"/>
              </a:ext>
            </a:extLst>
          </p:cNvPr>
          <p:cNvSpPr/>
          <p:nvPr/>
        </p:nvSpPr>
        <p:spPr>
          <a:xfrm>
            <a:off x="4419599" y="6005051"/>
            <a:ext cx="1691150" cy="538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一些小问题一次性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A1E793-1A78-6DA5-2FE0-AC521723EB7B}"/>
              </a:ext>
            </a:extLst>
          </p:cNvPr>
          <p:cNvSpPr/>
          <p:nvPr/>
        </p:nvSpPr>
        <p:spPr>
          <a:xfrm>
            <a:off x="6184490" y="6005051"/>
            <a:ext cx="1691150" cy="538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收拾整理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E6C2D2-6DCA-3DD1-589A-A8B388BF820E}"/>
              </a:ext>
            </a:extLst>
          </p:cNvPr>
          <p:cNvSpPr/>
          <p:nvPr/>
        </p:nvSpPr>
        <p:spPr>
          <a:xfrm>
            <a:off x="7949381" y="5996447"/>
            <a:ext cx="1691150" cy="53831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减法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EF749D-F100-36E2-AEAB-03D4419395C0}"/>
              </a:ext>
            </a:extLst>
          </p:cNvPr>
          <p:cNvSpPr/>
          <p:nvPr/>
        </p:nvSpPr>
        <p:spPr>
          <a:xfrm>
            <a:off x="9788013" y="5643716"/>
            <a:ext cx="1691150" cy="11847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搞音乐</a:t>
            </a:r>
            <a:endParaRPr lang="en-US" altLang="zh-CN" sz="1400" dirty="0"/>
          </a:p>
          <a:p>
            <a:pPr algn="ctr"/>
            <a:r>
              <a:rPr lang="zh-CN" altLang="en-US" sz="1400" dirty="0"/>
              <a:t>搞文学</a:t>
            </a:r>
            <a:endParaRPr lang="en-US" altLang="zh-CN" sz="1400" dirty="0"/>
          </a:p>
          <a:p>
            <a:pPr algn="ctr"/>
            <a:r>
              <a:rPr lang="zh-CN" altLang="en-US" sz="1400" dirty="0"/>
              <a:t>搞历史（创作、理解）</a:t>
            </a:r>
            <a:endParaRPr lang="en-US" altLang="zh-CN" sz="1400" dirty="0"/>
          </a:p>
          <a:p>
            <a:pPr algn="ctr"/>
            <a:r>
              <a:rPr lang="zh-CN" altLang="en-US" sz="1400" dirty="0"/>
              <a:t>搞手工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B433E3-4ACB-C911-7859-969199D77B80}"/>
              </a:ext>
            </a:extLst>
          </p:cNvPr>
          <p:cNvSpPr/>
          <p:nvPr/>
        </p:nvSpPr>
        <p:spPr>
          <a:xfrm>
            <a:off x="-904572" y="5996447"/>
            <a:ext cx="1691150" cy="538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近期压力较大事项</a:t>
            </a:r>
            <a:endParaRPr lang="en-US" altLang="zh-CN" sz="1400" dirty="0"/>
          </a:p>
          <a:p>
            <a:pPr algn="ctr"/>
            <a:r>
              <a:rPr lang="zh-CN" altLang="en-US" sz="1400" dirty="0"/>
              <a:t>识别和消除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8921A8-D9AB-5DC0-4B08-95ED039C401E}"/>
              </a:ext>
            </a:extLst>
          </p:cNvPr>
          <p:cNvSpPr/>
          <p:nvPr/>
        </p:nvSpPr>
        <p:spPr>
          <a:xfrm>
            <a:off x="9561869" y="1499418"/>
            <a:ext cx="1691150" cy="538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有脑做事情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D63D0B-3F68-57B2-857F-AAD36D99EAAE}"/>
              </a:ext>
            </a:extLst>
          </p:cNvPr>
          <p:cNvSpPr/>
          <p:nvPr/>
        </p:nvSpPr>
        <p:spPr>
          <a:xfrm>
            <a:off x="8529483" y="2281082"/>
            <a:ext cx="1691150" cy="538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美学创造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EF659BE-D500-CEF4-790E-CA5A054A434B}"/>
              </a:ext>
            </a:extLst>
          </p:cNvPr>
          <p:cNvSpPr/>
          <p:nvPr/>
        </p:nvSpPr>
        <p:spPr>
          <a:xfrm>
            <a:off x="8529483" y="3001295"/>
            <a:ext cx="1691150" cy="538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产品创造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5B1385-1B9B-0103-22CC-B1070A0AE787}"/>
              </a:ext>
            </a:extLst>
          </p:cNvPr>
          <p:cNvSpPr/>
          <p:nvPr/>
        </p:nvSpPr>
        <p:spPr>
          <a:xfrm>
            <a:off x="8529483" y="3693241"/>
            <a:ext cx="1691150" cy="538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竞争强度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FF10AA-BCE2-9DBC-2E40-BF6F86AE5FC7}"/>
              </a:ext>
            </a:extLst>
          </p:cNvPr>
          <p:cNvSpPr/>
          <p:nvPr/>
        </p:nvSpPr>
        <p:spPr>
          <a:xfrm>
            <a:off x="4345858" y="2150807"/>
            <a:ext cx="1691150" cy="538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参考人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346C8D-7939-FFBB-2C1E-54B087CF5A6C}"/>
              </a:ext>
            </a:extLst>
          </p:cNvPr>
          <p:cNvSpPr/>
          <p:nvPr/>
        </p:nvSpPr>
        <p:spPr>
          <a:xfrm>
            <a:off x="4345858" y="2781300"/>
            <a:ext cx="708742" cy="538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加缪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18304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6A5AD-AFCD-440F-5C3B-C9CE91A4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251013</a:t>
            </a:r>
            <a:r>
              <a:rPr lang="zh-CN" altLang="en-US" dirty="0"/>
              <a:t>开始灰产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1707BC-F0D8-C00D-4E10-207171577B89}"/>
              </a:ext>
            </a:extLst>
          </p:cNvPr>
          <p:cNvSpPr/>
          <p:nvPr/>
        </p:nvSpPr>
        <p:spPr>
          <a:xfrm>
            <a:off x="5299389" y="1310482"/>
            <a:ext cx="1593221" cy="76041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打牌相关</a:t>
            </a: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6AB838-2243-F388-4A8A-25053A494732}"/>
              </a:ext>
            </a:extLst>
          </p:cNvPr>
          <p:cNvSpPr/>
          <p:nvPr/>
        </p:nvSpPr>
        <p:spPr>
          <a:xfrm>
            <a:off x="5299389" y="2255839"/>
            <a:ext cx="1593221" cy="76041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打牌相关</a:t>
            </a: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E707EF-DF5F-8EE5-5DB7-045D4C14B9CB}"/>
              </a:ext>
            </a:extLst>
          </p:cNvPr>
          <p:cNvSpPr/>
          <p:nvPr/>
        </p:nvSpPr>
        <p:spPr>
          <a:xfrm>
            <a:off x="10176189" y="267494"/>
            <a:ext cx="1593221" cy="76041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减掉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98297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C4B5B-3002-F407-AEC0-2738F4E21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ACCA</a:t>
            </a:r>
            <a:r>
              <a:rPr lang="zh-CN" altLang="en-US" dirty="0"/>
              <a:t>干货结构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EAD0F5-7874-64A8-7064-9FDA57BC0F23}"/>
              </a:ext>
            </a:extLst>
          </p:cNvPr>
          <p:cNvSpPr/>
          <p:nvPr/>
        </p:nvSpPr>
        <p:spPr>
          <a:xfrm>
            <a:off x="5299389" y="2255839"/>
            <a:ext cx="1593221" cy="76041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第一图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23326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138A99A-6EF0-031E-1216-1E4C9B292927}"/>
              </a:ext>
            </a:extLst>
          </p:cNvPr>
          <p:cNvSpPr/>
          <p:nvPr/>
        </p:nvSpPr>
        <p:spPr>
          <a:xfrm>
            <a:off x="2427330" y="1798473"/>
            <a:ext cx="1494963" cy="523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高尔夫训练</a:t>
            </a: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E0840F-5560-B185-CAD0-5143AE3A6613}"/>
              </a:ext>
            </a:extLst>
          </p:cNvPr>
          <p:cNvSpPr/>
          <p:nvPr/>
        </p:nvSpPr>
        <p:spPr>
          <a:xfrm>
            <a:off x="2609329" y="5910139"/>
            <a:ext cx="1494963" cy="523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高尔夫</a:t>
            </a: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580993-F7B4-DD59-D5A3-DE77BA7720F8}"/>
              </a:ext>
            </a:extLst>
          </p:cNvPr>
          <p:cNvSpPr/>
          <p:nvPr/>
        </p:nvSpPr>
        <p:spPr>
          <a:xfrm>
            <a:off x="8835192" y="1275350"/>
            <a:ext cx="1494963" cy="523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卧铺</a:t>
            </a:r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D3D875-96A2-66E2-C9FE-EF7D52FEBDDD}"/>
              </a:ext>
            </a:extLst>
          </p:cNvPr>
          <p:cNvSpPr/>
          <p:nvPr/>
        </p:nvSpPr>
        <p:spPr>
          <a:xfrm>
            <a:off x="2609330" y="3004075"/>
            <a:ext cx="1494963" cy="523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双眼皮</a:t>
            </a:r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D91EB7-64C1-4F00-E159-1C0BA58190C6}"/>
              </a:ext>
            </a:extLst>
          </p:cNvPr>
          <p:cNvSpPr/>
          <p:nvPr/>
        </p:nvSpPr>
        <p:spPr>
          <a:xfrm>
            <a:off x="2609329" y="3570814"/>
            <a:ext cx="1494963" cy="61059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一周绝对静止</a:t>
            </a:r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D81E00-2296-A335-FC72-72B207BA7E24}"/>
              </a:ext>
            </a:extLst>
          </p:cNvPr>
          <p:cNvSpPr/>
          <p:nvPr/>
        </p:nvSpPr>
        <p:spPr>
          <a:xfrm>
            <a:off x="366884" y="3731545"/>
            <a:ext cx="1494963" cy="523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11.14</a:t>
            </a:r>
            <a:r>
              <a:rPr lang="zh-CN" altLang="en-US" dirty="0"/>
              <a:t>左右</a:t>
            </a:r>
            <a:endParaRPr lang="en-US" altLang="zh-CN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F6BF48-CFE1-982F-33F3-28A8247F696A}"/>
              </a:ext>
            </a:extLst>
          </p:cNvPr>
          <p:cNvSpPr/>
          <p:nvPr/>
        </p:nvSpPr>
        <p:spPr>
          <a:xfrm>
            <a:off x="8835190" y="3731546"/>
            <a:ext cx="1494963" cy="523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邮轮</a:t>
            </a:r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199332-D053-B0E5-8D29-ABE6A0614B1F}"/>
              </a:ext>
            </a:extLst>
          </p:cNvPr>
          <p:cNvSpPr/>
          <p:nvPr/>
        </p:nvSpPr>
        <p:spPr>
          <a:xfrm>
            <a:off x="4054644" y="134104"/>
            <a:ext cx="1494963" cy="523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浮气</a:t>
            </a:r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FE6E80-4629-4177-CE74-AFC48FE28A45}"/>
              </a:ext>
            </a:extLst>
          </p:cNvPr>
          <p:cNvSpPr/>
          <p:nvPr/>
        </p:nvSpPr>
        <p:spPr>
          <a:xfrm>
            <a:off x="2427329" y="1275350"/>
            <a:ext cx="1494963" cy="523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LanParty</a:t>
            </a:r>
            <a:endParaRPr lang="en-US" altLang="zh-CN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4FB8C91-D17A-6AD2-EA5F-E0E1584926E5}"/>
              </a:ext>
            </a:extLst>
          </p:cNvPr>
          <p:cNvSpPr/>
          <p:nvPr/>
        </p:nvSpPr>
        <p:spPr>
          <a:xfrm>
            <a:off x="84141" y="4603584"/>
            <a:ext cx="2060447" cy="523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11.19 </a:t>
            </a:r>
            <a:r>
              <a:rPr lang="zh-CN" altLang="en-US" dirty="0"/>
              <a:t>宝可梦比赛</a:t>
            </a:r>
            <a:endParaRPr lang="en-US" altLang="zh-CN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E1C85E-44D6-C9BA-0C2A-60EA671629EA}"/>
              </a:ext>
            </a:extLst>
          </p:cNvPr>
          <p:cNvSpPr/>
          <p:nvPr/>
        </p:nvSpPr>
        <p:spPr>
          <a:xfrm>
            <a:off x="6592746" y="3731544"/>
            <a:ext cx="1841391" cy="523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万智牌新系列</a:t>
            </a:r>
            <a:endParaRPr lang="en-US" altLang="zh-CN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07323B-E5C6-02E5-B40F-09E3B08B7942}"/>
              </a:ext>
            </a:extLst>
          </p:cNvPr>
          <p:cNvSpPr/>
          <p:nvPr/>
        </p:nvSpPr>
        <p:spPr>
          <a:xfrm>
            <a:off x="366884" y="5387016"/>
            <a:ext cx="1777704" cy="523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12.12 </a:t>
            </a:r>
            <a:r>
              <a:rPr lang="zh-CN" altLang="en-US" dirty="0"/>
              <a:t>大约万智牌</a:t>
            </a:r>
            <a:r>
              <a:rPr lang="en-US" altLang="zh-CN" dirty="0"/>
              <a:t>AD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0191ACF-2DB5-949F-3061-C957D9AF8B81}"/>
              </a:ext>
            </a:extLst>
          </p:cNvPr>
          <p:cNvSpPr/>
          <p:nvPr/>
        </p:nvSpPr>
        <p:spPr>
          <a:xfrm>
            <a:off x="8835190" y="1798473"/>
            <a:ext cx="1494963" cy="523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影院</a:t>
            </a:r>
            <a:endParaRPr lang="en-US" altLang="zh-CN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7A5061A-F831-CB45-0D9F-1C8CCA2CE848}"/>
              </a:ext>
            </a:extLst>
          </p:cNvPr>
          <p:cNvSpPr/>
          <p:nvPr/>
        </p:nvSpPr>
        <p:spPr>
          <a:xfrm>
            <a:off x="2609329" y="6504951"/>
            <a:ext cx="1494963" cy="523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日本</a:t>
            </a:r>
            <a:endParaRPr lang="en-US" altLang="zh-CN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A51C764-BED8-1E4E-8940-BC6DAC1FAFDD}"/>
              </a:ext>
            </a:extLst>
          </p:cNvPr>
          <p:cNvSpPr/>
          <p:nvPr/>
        </p:nvSpPr>
        <p:spPr>
          <a:xfrm>
            <a:off x="2609329" y="4405475"/>
            <a:ext cx="1494963" cy="61059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三亚与高尔夫</a:t>
            </a:r>
            <a:endParaRPr lang="en-US" altLang="zh-CN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D905B9B-F0F8-4A8B-E288-764C0ABF734F}"/>
              </a:ext>
            </a:extLst>
          </p:cNvPr>
          <p:cNvSpPr/>
          <p:nvPr/>
        </p:nvSpPr>
        <p:spPr>
          <a:xfrm>
            <a:off x="2609328" y="5075478"/>
            <a:ext cx="1494963" cy="61059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香港澳门广州美食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13602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1766</TotalTime>
  <Words>1990</Words>
  <Application>Microsoft Office PowerPoint</Application>
  <PresentationFormat>宽屏</PresentationFormat>
  <Paragraphs>210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沉迷失败原因</vt:lpstr>
      <vt:lpstr>PowerPoint 演示文稿</vt:lpstr>
      <vt:lpstr>LingTool – 总结器</vt:lpstr>
      <vt:lpstr>PowerPoint 演示文稿</vt:lpstr>
      <vt:lpstr>251013开始灰产</vt:lpstr>
      <vt:lpstr>ACCA干货结构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Yunong Tian</dc:creator>
  <cp:lastModifiedBy>Yunong Tian</cp:lastModifiedBy>
  <cp:revision>107</cp:revision>
  <dcterms:created xsi:type="dcterms:W3CDTF">2025-07-30T10:21:23Z</dcterms:created>
  <dcterms:modified xsi:type="dcterms:W3CDTF">2025-10-24T13:36:06Z</dcterms:modified>
</cp:coreProperties>
</file>